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1371600"/>
            <a:ext cx="36576" cy="3200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6400" b="1">
                <a:solidFill>
                  <a:srgbClr val="F0F0F0"/>
                </a:solidFill>
                <a:latin typeface="Segoe UI Light"/>
              </a:defRPr>
            </a:pPr>
            <a:r>
              <a:t>Q-TRON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73152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FF88"/>
                </a:solidFill>
                <a:latin typeface="Consolas"/>
              </a:defRPr>
            </a:pPr>
            <a:r>
              <a:t>TRADING CONSOLE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7472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6880"/>
                </a:solidFill>
                <a:latin typeface="Segoe UI"/>
              </a:defRPr>
            </a:pPr>
            <a:r>
              <a:t>Next-Gen Quantitative Trading GUI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84048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606880"/>
                </a:solidFill>
                <a:latin typeface="Segoe UI"/>
              </a:defRPr>
            </a:pPr>
            <a:r>
              <a:t>Design Concept Proposal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2636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88"/>
                </a:solidFill>
                <a:latin typeface="Consolas"/>
              </a:defRPr>
            </a:pPr>
            <a:r>
              <a:t>DESIGN STUDIO 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62636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99FF"/>
                </a:solidFill>
                <a:latin typeface="Consolas"/>
              </a:defRPr>
            </a:pPr>
            <a:r>
              <a:t>Q-TRON QUANT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626364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6880"/>
                </a:solidFill>
                <a:latin typeface="Consolas"/>
              </a:defRPr>
            </a:pPr>
            <a:r>
              <a:t>2026.04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914400"/>
            <a:ext cx="182880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247120" y="886968"/>
            <a:ext cx="54864" cy="54864"/>
          </a:xfrm>
          <a:prstGeom prst="ellipse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01200" y="1737360"/>
            <a:ext cx="182880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1247120" y="1709928"/>
            <a:ext cx="54864" cy="54864"/>
          </a:xfrm>
          <a:prstGeom prst="ellipse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601200" y="2560320"/>
            <a:ext cx="182880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247120" y="2532888"/>
            <a:ext cx="54864" cy="54864"/>
          </a:xfrm>
          <a:prstGeom prst="ellipse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601200" y="3383280"/>
            <a:ext cx="182880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1247120" y="3355848"/>
            <a:ext cx="54864" cy="54864"/>
          </a:xfrm>
          <a:prstGeom prst="ellipse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601200" y="4206240"/>
            <a:ext cx="182880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247120" y="4178808"/>
            <a:ext cx="54864" cy="54864"/>
          </a:xfrm>
          <a:prstGeom prst="ellipse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601200" y="5029200"/>
            <a:ext cx="182880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247120" y="5001768"/>
            <a:ext cx="54864" cy="54864"/>
          </a:xfrm>
          <a:prstGeom prst="ellipse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PROJECT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프로젝트 개요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11064240" cy="109728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54864" cy="10972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08760"/>
            <a:ext cx="10515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FF88"/>
                </a:solidFill>
                <a:latin typeface="Segoe UI"/>
              </a:defRPr>
            </a:pPr>
            <a:r>
              <a:t>"1초 안에 시장 상태를 파악하고, 3초 안에 리스크를 판단한다"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834640"/>
            <a:ext cx="3383280" cy="3291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834640"/>
            <a:ext cx="338328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175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88"/>
                </a:solidFill>
                <a:latin typeface="Consolas"/>
              </a:defRPr>
            </a:pPr>
            <a: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0160" y="30175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Segoe UI"/>
              </a:defRPr>
            </a:pPr>
            <a:r>
              <a:t>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2918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미션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6576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기존 PyQt5 Dock 기반 모니터를</a:t>
            </a:r>
            <a:br/>
            <a:r>
              <a:t>차세대 트레이딩 콘솔로 재설계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00FF88"/>
                </a:solidFill>
                <a:latin typeface="Segoe UI"/>
              </a:defRPr>
            </a:pPr>
            <a:r>
              <a:t>▸  실시간 의사결정 지원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00FF88"/>
                </a:solidFill>
                <a:latin typeface="Segoe UI"/>
              </a:defRPr>
            </a:pPr>
            <a:r>
              <a:t>▸  리스크 가시화 극대화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00FF88"/>
                </a:solidFill>
                <a:latin typeface="Segoe UI"/>
              </a:defRPr>
            </a:pPr>
            <a:r>
              <a:t>▸  운영 신뢰성 확보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2834640"/>
            <a:ext cx="3383280" cy="3291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2834640"/>
            <a:ext cx="3383280" cy="36576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30175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699FF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199" y="30175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Segoe UI"/>
              </a:defRPr>
            </a:pPr>
            <a:r>
              <a:t>Scope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199" y="32918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36576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20종목 로테이션 전략</a:t>
            </a:r>
            <a:br/>
            <a:r>
              <a:t>월간 리밸런싱 + Trail Stop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99FF"/>
                </a:solidFill>
                <a:latin typeface="Segoe UI"/>
              </a:defRPr>
            </a:pPr>
            <a:r>
              <a:t>▸  BuyPermission 상태기계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99FF"/>
                </a:solidFill>
                <a:latin typeface="Segoe UI"/>
              </a:defRPr>
            </a:pPr>
            <a:r>
              <a:t>▸  AI Advisor 4-Phase 통합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99FF"/>
                </a:solidFill>
                <a:latin typeface="Segoe UI"/>
              </a:defRPr>
            </a:pPr>
            <a:r>
              <a:t>▸  DD Guard 리스크 관리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46719" y="2834640"/>
            <a:ext cx="3383280" cy="3291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46719" y="2834640"/>
            <a:ext cx="3383280" cy="36576"/>
          </a:xfrm>
          <a:prstGeom prst="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599" y="3017520"/>
            <a:ext cx="548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4CCCC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778239" y="301752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Segoe UI"/>
              </a:defRPr>
            </a:pPr>
            <a:r>
              <a:t>Goal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778239" y="329184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목표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599" y="3657600"/>
            <a:ext cx="301752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허다한 정보 나열을 벗어나</a:t>
            </a:r>
            <a:br/>
            <a:r>
              <a:t>우선순위 기반 시각 계층구조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4572000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4CCCC"/>
                </a:solidFill>
                <a:latin typeface="Segoe UI"/>
              </a:defRPr>
            </a:pPr>
            <a:r>
              <a:t>▸  관제 센터 패러다임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4CCCC"/>
                </a:solidFill>
                <a:latin typeface="Segoe UI"/>
              </a:defRPr>
            </a:pPr>
            <a:r>
              <a:t>▸  글랜스 가능한 대시보드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44CCCC"/>
                </a:solidFill>
                <a:latin typeface="Segoe UI"/>
              </a:defRPr>
            </a:pPr>
            <a:r>
              <a:t>▸  리스크 즐각 시각화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54864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AS-IS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현재 시스템 분석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303520" cy="5486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45720" cy="54864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07592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Row 1  KPI Strip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53619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Decision Card + Today PnL + MDD + Positions + Cash + Cumulative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965960"/>
            <a:ext cx="5303520" cy="5486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965960"/>
            <a:ext cx="45720" cy="548640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1993392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699FF"/>
                </a:solidFill>
                <a:latin typeface="Consolas"/>
              </a:defRPr>
            </a:pPr>
            <a:r>
              <a:t>Row 2  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22199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PnL Bar Chart (60%) + Equity vs KOSPI Line (40%)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651760"/>
            <a:ext cx="5303520" cy="5486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2651760"/>
            <a:ext cx="45720" cy="548640"/>
          </a:xfrm>
          <a:prstGeom prst="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679192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4CCCC"/>
                </a:solidFill>
                <a:latin typeface="Consolas"/>
              </a:defRPr>
            </a:pPr>
            <a:r>
              <a:t>Row 3  Portfolio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290779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Sector Donut + Positions Table + Advisor Alerts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337560"/>
            <a:ext cx="5303520" cy="5486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48640" y="3337560"/>
            <a:ext cx="45720" cy="54864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364992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DD00"/>
                </a:solidFill>
                <a:latin typeface="Consolas"/>
              </a:defRPr>
            </a:pPr>
            <a:r>
              <a:t>Row 4 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593592"/>
            <a:ext cx="484632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Recent Trades (60%) + System Status Badges (40%)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128016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88"/>
                </a:solidFill>
                <a:latin typeface="Consolas"/>
              </a:defRPr>
            </a:pPr>
            <a:r>
              <a:t>✔  STRENGTHS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64592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풍부한 데이터 표시 (KPI, 차트, 테이블)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다크 테마 + Glassmorphism 적용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Dock 재배치 가능 (파워유저)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3초 주기 실시간 갱신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2926080"/>
            <a:ext cx="50292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3344"/>
                </a:solidFill>
                <a:latin typeface="Consolas"/>
              </a:defRPr>
            </a:pPr>
            <a:r>
              <a:t>✖  LIMITATIONS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291840"/>
            <a:ext cx="5029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3344"/>
                </a:solidFill>
                <a:latin typeface="Segoe UI"/>
              </a:defRPr>
            </a:pPr>
            <a:r>
              <a:t>▸  정보 우선순위 불명확 — 모든 데이터가 동일 비중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3344"/>
                </a:solidFill>
                <a:latin typeface="Segoe UI"/>
              </a:defRPr>
            </a:pPr>
            <a:r>
              <a:t>▸  시각적 계층구조 부재 — KPI와 차트 구분 약함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3344"/>
                </a:solidFill>
                <a:latin typeface="Segoe UI"/>
              </a:defRPr>
            </a:pPr>
            <a:r>
              <a:t>▸  알림 통합 미흡 — Advisor 결과가 작은 카드에 묻혀 있음</a:t>
            </a:r>
          </a:p>
          <a:p>
            <a:pPr algn="l">
              <a:lnSpc>
                <a:spcPts val="1600"/>
              </a:lnSpc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FF3344"/>
                </a:solidFill>
                <a:latin typeface="Segoe UI"/>
              </a:defRPr>
            </a:pPr>
            <a:r>
              <a:t>▸  리스크 시각화 부족 — Trail Gap, DD Guard 직관성 부족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54880"/>
            <a:ext cx="11064240" cy="36576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2920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88"/>
                </a:solidFill>
                <a:latin typeface="Consolas"/>
              </a:defRPr>
            </a:pPr>
            <a: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QDockWidgets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502920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88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Row Layout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97679" y="502920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88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97679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KPI Cards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199" y="502920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88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72199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Chart Types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9" y="502920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88"/>
                </a:solidFill>
                <a:latin typeface="Consolas"/>
              </a:defRPr>
            </a:pPr>
            <a:r>
              <a:t>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46719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Status Badges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921240" y="5029200"/>
            <a:ext cx="1371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88"/>
                </a:solidFill>
                <a:latin typeface="Consolas"/>
              </a:defRPr>
            </a:pPr>
            <a:r>
              <a:t>3s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921240" y="54864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Refresh Cycle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DESIGN PHILOSOPHY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Command Center Paradigm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41148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45920"/>
            <a:ext cx="548640" cy="54864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64208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60810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459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GLANCEABLE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19659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한눈에 파악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377440"/>
            <a:ext cx="137160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04871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88"/>
                </a:solidFill>
                <a:latin typeface="Consolas"/>
              </a:defRPr>
            </a:pPr>
            <a:r>
              <a:t>1초 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926080"/>
            <a:ext cx="3108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전체 포트폴리오 상태를</a:t>
            </a:r>
            <a:br/>
            <a:r>
              <a:t>단 1초만에 파악 가능한</a:t>
            </a:r>
            <a:br/>
            <a:r>
              <a:t>시각 계층구조 설계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572000"/>
            <a:ext cx="310896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Inspired by: 항공관제 대시보드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371600"/>
            <a:ext cx="3474720" cy="41148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480559" y="1645920"/>
            <a:ext cx="548640" cy="54864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664208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6081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79" y="16459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DD00"/>
                </a:solidFill>
                <a:latin typeface="Consolas"/>
              </a:defRPr>
            </a:pPr>
            <a:r>
              <a:t>ACTIONABLE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79" y="19659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즉시 판단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59" y="2377440"/>
            <a:ext cx="137160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59" y="2404871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D00"/>
                </a:solidFill>
                <a:latin typeface="Consolas"/>
              </a:defRPr>
            </a:pPr>
            <a:r>
              <a:t>3초 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2926080"/>
            <a:ext cx="3108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리스크 상황 발생 시</a:t>
            </a:r>
            <a:br/>
            <a:r>
              <a:t>3초 이내 위험 요인 식별과</a:t>
            </a:r>
            <a:br/>
            <a:r>
              <a:t>대응 방향 판단 가능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59" y="4572000"/>
            <a:ext cx="310896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475488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Inspired by: 금융 터미널 UX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371600"/>
            <a:ext cx="3474720" cy="41148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229599" y="1645920"/>
            <a:ext cx="548640" cy="548640"/>
          </a:xfrm>
          <a:prstGeom prst="ellipse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1664208"/>
            <a:ext cx="5486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6081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1645920"/>
            <a:ext cx="23774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44CCCC"/>
                </a:solidFill>
                <a:latin typeface="Consolas"/>
              </a:defRPr>
            </a:pPr>
            <a:r>
              <a:t>TRUSTWORTHY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19" y="1965960"/>
            <a:ext cx="23774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신뢰 가능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599" y="2377440"/>
            <a:ext cx="137160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4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9" y="2404871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4CCCC"/>
                </a:solidFill>
                <a:latin typeface="Consolas"/>
              </a:defRPr>
            </a:pPr>
            <a:r>
              <a:t>항시 가시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2926080"/>
            <a:ext cx="310896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데이터 신선도, 시스템 상태,</a:t>
            </a:r>
            <a:br/>
            <a:r>
              <a:t>브로커 연결 상태가</a:t>
            </a:r>
            <a:br/>
            <a:r>
              <a:t>항상 눈에 보이는 설계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599" y="4572000"/>
            <a:ext cx="310896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475488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Inspired by: NASA Mission Control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06880"/>
                </a:solidFill>
                <a:latin typeface="Consolas"/>
              </a:defRPr>
            </a:pPr>
            <a:r>
              <a:t>INSPIRATION:  항공관제  ·  금융 터미널  ·  NASA Mission Control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INFORMATION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정보 아키텍처  —  3-Tier Priority System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14630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1106424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88"/>
                </a:solidFill>
                <a:latin typeface="Consolas"/>
              </a:defRPr>
            </a:pPr>
            <a:r>
              <a:t>TIER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41732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ALWAYS VISIBLE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783080"/>
            <a:ext cx="25831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810512"/>
            <a:ext cx="24917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BuyPermission 상태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06140" y="1783080"/>
            <a:ext cx="25831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1860" y="1810512"/>
            <a:ext cx="24917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Today PnL 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1783080"/>
            <a:ext cx="25831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0" y="1810512"/>
            <a:ext cx="24917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Current MDD 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755380" y="1783080"/>
            <a:ext cx="25831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01100" y="1810512"/>
            <a:ext cx="24917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포지션 수 (N/20)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2286000"/>
            <a:ext cx="106984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항상 화면에 노출 — 가장 넓은 면적, 가장 큰 글자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34440" y="2971800"/>
            <a:ext cx="9692640" cy="14630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234440" y="2971800"/>
            <a:ext cx="9692640" cy="36576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17320" y="310896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D00"/>
                </a:solidFill>
                <a:latin typeface="Consolas"/>
              </a:defRPr>
            </a:pPr>
            <a:r>
              <a:t>TIER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14600" y="310896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GLANCEABLE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17320" y="3474720"/>
            <a:ext cx="22402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463040" y="350215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Equity Curve 차트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749040" y="3474720"/>
            <a:ext cx="22402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794760" y="350215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섹터별 비중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080760" y="3474720"/>
            <a:ext cx="22402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80" y="350215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Trail Stop 근접 종목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0" y="3474720"/>
            <a:ext cx="22402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58200" y="3502152"/>
            <a:ext cx="21488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리스크 수준 게이지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17320" y="3977640"/>
            <a:ext cx="9326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시선을 돌리면 확인 가능 — 중간 면적, 시각적 차트 중심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920240" y="4663440"/>
            <a:ext cx="8321040" cy="14630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920240" y="4663440"/>
            <a:ext cx="8321040" cy="36576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103120" y="48006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99FF"/>
                </a:solidFill>
                <a:latin typeface="Consolas"/>
              </a:defRPr>
            </a:pPr>
            <a:r>
              <a:t>TIER 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48006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ON-DEMAND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2103120" y="5166360"/>
            <a:ext cx="18973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148840" y="5193792"/>
            <a:ext cx="18059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거래 내역 상세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91940" y="5166360"/>
            <a:ext cx="18973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137660" y="5193792"/>
            <a:ext cx="18059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시스템 로그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080760" y="5166360"/>
            <a:ext cx="18973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5193792"/>
            <a:ext cx="18059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AI Advisor 추천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069580" y="5166360"/>
            <a:ext cx="1897380" cy="36576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5300" y="5193792"/>
            <a:ext cx="18059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F0F0F0"/>
                </a:solidFill>
                <a:latin typeface="Consolas"/>
              </a:defRPr>
            </a:pPr>
            <a:r>
              <a:t>파라미터 조정 제안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103120" y="5669280"/>
            <a:ext cx="7955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클릭/펌침으로 확인 — 상세 텍스트, 테이블, 패널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LAYOUT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Mission Control 레이아웃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80160"/>
            <a:ext cx="10698480" cy="5029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371600"/>
            <a:ext cx="10515600" cy="320040"/>
          </a:xfrm>
          <a:prstGeom prst="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1463040"/>
            <a:ext cx="109728" cy="109728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41732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06880"/>
                </a:solidFill>
                <a:latin typeface="Consolas"/>
              </a:defRPr>
            </a:pPr>
            <a:r>
              <a:t>ENGINE</a:t>
            </a:r>
          </a:p>
        </p:txBody>
      </p:sp>
      <p:sp>
        <p:nvSpPr>
          <p:cNvPr id="10" name="Oval 9"/>
          <p:cNvSpPr/>
          <p:nvPr/>
        </p:nvSpPr>
        <p:spPr>
          <a:xfrm>
            <a:off x="3108959" y="1463040"/>
            <a:ext cx="109728" cy="109728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1" y="141732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06880"/>
                </a:solidFill>
                <a:latin typeface="Consolas"/>
              </a:defRPr>
            </a:pPr>
            <a:r>
              <a:t>STALE</a:t>
            </a:r>
          </a:p>
        </p:txBody>
      </p:sp>
      <p:sp>
        <p:nvSpPr>
          <p:cNvPr id="12" name="Oval 11"/>
          <p:cNvSpPr/>
          <p:nvPr/>
        </p:nvSpPr>
        <p:spPr>
          <a:xfrm>
            <a:off x="5212079" y="1463040"/>
            <a:ext cx="109728" cy="109728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76671" y="141732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06880"/>
                </a:solidFill>
                <a:latin typeface="Consolas"/>
              </a:defRPr>
            </a:pPr>
            <a:r>
              <a:t>RISK</a:t>
            </a:r>
          </a:p>
        </p:txBody>
      </p:sp>
      <p:sp>
        <p:nvSpPr>
          <p:cNvPr id="14" name="Oval 13"/>
          <p:cNvSpPr/>
          <p:nvPr/>
        </p:nvSpPr>
        <p:spPr>
          <a:xfrm>
            <a:off x="7315199" y="1463040"/>
            <a:ext cx="109728" cy="109728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79791" y="141732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06880"/>
                </a:solidFill>
                <a:latin typeface="Consolas"/>
              </a:defRPr>
            </a:pPr>
            <a:r>
              <a:t>REGIME</a:t>
            </a:r>
          </a:p>
        </p:txBody>
      </p:sp>
      <p:sp>
        <p:nvSpPr>
          <p:cNvPr id="16" name="Oval 15"/>
          <p:cNvSpPr/>
          <p:nvPr/>
        </p:nvSpPr>
        <p:spPr>
          <a:xfrm>
            <a:off x="9418320" y="1463040"/>
            <a:ext cx="109728" cy="109728"/>
          </a:xfrm>
          <a:prstGeom prst="ellipse">
            <a:avLst/>
          </a:prstGeom>
          <a:solidFill>
            <a:srgbClr val="60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82912" y="1417320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06880"/>
                </a:solidFill>
                <a:latin typeface="Consolas"/>
              </a:defRPr>
            </a:pPr>
            <a:r>
              <a:t>UPDATED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1362456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404858"/>
                </a:solidFill>
                <a:latin typeface="Consolas"/>
              </a:defRPr>
            </a:pPr>
            <a:r>
              <a:t>SYSTEM HEARTBEAT STRIP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2960" y="1783080"/>
            <a:ext cx="2011680" cy="438912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1874520"/>
            <a:ext cx="1828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DECISION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10312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0FF88"/>
                </a:solidFill>
                <a:latin typeface="Consolas"/>
              </a:defRPr>
            </a:pPr>
            <a:r>
              <a:t>HUB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0120" y="2423160"/>
            <a:ext cx="1737360" cy="54864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2496312"/>
            <a:ext cx="17373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88"/>
                </a:solidFill>
                <a:latin typeface="Consolas"/>
              </a:defRPr>
            </a:pPr>
            <a:r>
              <a:t>BUY OK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" y="3154680"/>
            <a:ext cx="1737360" cy="4114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560" y="3200400"/>
            <a:ext cx="73152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PnL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333756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+2.3%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0120" y="3703320"/>
            <a:ext cx="1737360" cy="4114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51560" y="3749040"/>
            <a:ext cx="73152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MDD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" y="388620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+2.3%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" y="4251960"/>
            <a:ext cx="1737360" cy="4114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297680"/>
            <a:ext cx="73152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N/20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43484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+2.3%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4800600"/>
            <a:ext cx="1737360" cy="4114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51560" y="4846320"/>
            <a:ext cx="73152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Cash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" y="498348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+2.3%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" y="5349240"/>
            <a:ext cx="1737360" cy="4114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560" y="5394960"/>
            <a:ext cx="73152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Cum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5532120"/>
            <a:ext cx="10972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+2.3%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6190488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20%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926080" y="1783080"/>
            <a:ext cx="5943600" cy="320040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3017520" y="1874520"/>
            <a:ext cx="1737360" cy="27432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17520" y="1892808"/>
            <a:ext cx="17373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6699FF"/>
                </a:solidFill>
                <a:latin typeface="Consolas"/>
              </a:defRPr>
            </a:pPr>
            <a:r>
              <a:t>Equity Curve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0" y="1874520"/>
            <a:ext cx="1737360" cy="274320"/>
          </a:xfrm>
          <a:prstGeom prst="round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37760" y="1892808"/>
            <a:ext cx="17373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04858"/>
                </a:solidFill>
                <a:latin typeface="Consolas"/>
              </a:defRPr>
            </a:pPr>
            <a:r>
              <a:t>PnL Waterfall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1874520"/>
            <a:ext cx="1737360" cy="274320"/>
          </a:xfrm>
          <a:prstGeom prst="round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858000" y="1892808"/>
            <a:ext cx="17373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04858"/>
                </a:solidFill>
                <a:latin typeface="Consolas"/>
              </a:defRPr>
            </a:pPr>
            <a:r>
              <a:t>Risk Heatmap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00400" y="2423160"/>
            <a:ext cx="5394960" cy="635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200400" y="2926080"/>
            <a:ext cx="5394960" cy="635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200400" y="3429000"/>
            <a:ext cx="5394960" cy="635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200400" y="3931920"/>
            <a:ext cx="5394960" cy="635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200400" y="4434840"/>
            <a:ext cx="5394960" cy="635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926080" y="3063240"/>
            <a:ext cx="5943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6699FF"/>
                </a:solidFill>
                <a:latin typeface="Consolas"/>
              </a:defRPr>
            </a:pPr>
            <a:r>
              <a:t>HERO CHART AREA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926080" y="5001768"/>
            <a:ext cx="5943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55%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961120" y="1783080"/>
            <a:ext cx="2468880" cy="438912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052560" y="1874520"/>
            <a:ext cx="22860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8800"/>
                </a:solidFill>
                <a:latin typeface="Consolas"/>
              </a:defRPr>
            </a:pPr>
            <a:r>
              <a:t>ALERT STREAM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052560" y="2240280"/>
            <a:ext cx="2286000" cy="384048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9052560" y="2240280"/>
            <a:ext cx="36576" cy="384048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189720" y="2286000"/>
            <a:ext cx="13716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3344"/>
                </a:solidFill>
                <a:latin typeface="Consolas"/>
              </a:defRPr>
            </a:pPr>
            <a:r>
              <a:t>CRITICAL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89720" y="2423160"/>
            <a:ext cx="18288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Alert message...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052560" y="2743200"/>
            <a:ext cx="2286000" cy="384048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052560" y="2743200"/>
            <a:ext cx="36576" cy="384048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89720" y="2788920"/>
            <a:ext cx="13716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8800"/>
                </a:solidFill>
                <a:latin typeface="Consolas"/>
              </a:defRPr>
            </a:pPr>
            <a:r>
              <a:t>HIGH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189720" y="2926080"/>
            <a:ext cx="18288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Alert message...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52560" y="3246120"/>
            <a:ext cx="2286000" cy="384048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9052560" y="3246120"/>
            <a:ext cx="36576" cy="384048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189720" y="3291840"/>
            <a:ext cx="13716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FFDD00"/>
                </a:solidFill>
                <a:latin typeface="Consolas"/>
              </a:defRPr>
            </a:pPr>
            <a:r>
              <a:t>MEDIUM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189720" y="3429000"/>
            <a:ext cx="18288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Alert message...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9052560" y="3749040"/>
            <a:ext cx="2286000" cy="384048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9052560" y="3749040"/>
            <a:ext cx="36576" cy="384048"/>
          </a:xfrm>
          <a:prstGeom prst="rect">
            <a:avLst/>
          </a:prstGeom>
          <a:solidFill>
            <a:srgbClr val="60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9189720" y="3794760"/>
            <a:ext cx="13716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1">
                <a:solidFill>
                  <a:srgbClr val="606880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189720" y="3931920"/>
            <a:ext cx="1828800" cy="16459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Alert message...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961120" y="6190488"/>
            <a:ext cx="2468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25%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2926080" y="5074920"/>
            <a:ext cx="5943600" cy="109728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4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3108960" y="5120640"/>
            <a:ext cx="55778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4CCCC"/>
                </a:solidFill>
                <a:latin typeface="Consolas"/>
              </a:defRPr>
            </a:pPr>
            <a:r>
              <a:t>POSITION GRID  —  20 Stock Tiles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3017520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017520" y="5394960"/>
            <a:ext cx="502920" cy="36576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3593592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3593592" y="5394960"/>
            <a:ext cx="5029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ounded Rectangle 78"/>
          <p:cNvSpPr/>
          <p:nvPr/>
        </p:nvSpPr>
        <p:spPr>
          <a:xfrm>
            <a:off x="4169664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169664" y="5394960"/>
            <a:ext cx="5029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ounded Rectangle 80"/>
          <p:cNvSpPr/>
          <p:nvPr/>
        </p:nvSpPr>
        <p:spPr>
          <a:xfrm>
            <a:off x="4745736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4745736" y="5394960"/>
            <a:ext cx="502920" cy="36576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ounded Rectangle 82"/>
          <p:cNvSpPr/>
          <p:nvPr/>
        </p:nvSpPr>
        <p:spPr>
          <a:xfrm>
            <a:off x="5321808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5321808" y="5394960"/>
            <a:ext cx="5029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897880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5897880" y="5394960"/>
            <a:ext cx="5029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ounded Rectangle 86"/>
          <p:cNvSpPr/>
          <p:nvPr/>
        </p:nvSpPr>
        <p:spPr>
          <a:xfrm>
            <a:off x="6473952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6473952" y="5394960"/>
            <a:ext cx="502920" cy="36576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ounded Rectangle 88"/>
          <p:cNvSpPr/>
          <p:nvPr/>
        </p:nvSpPr>
        <p:spPr>
          <a:xfrm>
            <a:off x="7050024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7050024" y="5394960"/>
            <a:ext cx="5029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ounded Rectangle 90"/>
          <p:cNvSpPr/>
          <p:nvPr/>
        </p:nvSpPr>
        <p:spPr>
          <a:xfrm>
            <a:off x="7626096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626096" y="5394960"/>
            <a:ext cx="5029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ounded Rectangle 92"/>
          <p:cNvSpPr/>
          <p:nvPr/>
        </p:nvSpPr>
        <p:spPr>
          <a:xfrm>
            <a:off x="8202168" y="5394960"/>
            <a:ext cx="502920" cy="640080"/>
          </a:xfrm>
          <a:prstGeom prst="roundRect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202168" y="5394960"/>
            <a:ext cx="502920" cy="36576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DECISION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핵심 컴포넌트 #1  —  매수 허가 상태 중심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371600"/>
            <a:ext cx="3474720" cy="2560320"/>
          </a:xfrm>
          <a:prstGeom prst="roundRect">
            <a:avLst/>
          </a:prstGeom>
          <a:solidFill>
            <a:srgbClr val="003322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371600"/>
            <a:ext cx="3474720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459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0FF88"/>
                </a:solidFill>
                <a:latin typeface="Consolas"/>
              </a:defRPr>
            </a:pPr>
            <a:r>
              <a:t>BUY 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1945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정상 매수 가능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5176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Risk: NORMAL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Data: Fresh (&lt;90s)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91839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RECON: Clean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97679" y="1371600"/>
            <a:ext cx="3474720" cy="2560320"/>
          </a:xfrm>
          <a:prstGeom prst="roundRect">
            <a:avLst/>
          </a:prstGeom>
          <a:solidFill>
            <a:srgbClr val="332B00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1371600"/>
            <a:ext cx="3474720" cy="54864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59" y="16459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D00"/>
                </a:solidFill>
                <a:latin typeface="Consolas"/>
              </a:defRPr>
            </a:pPr>
            <a:r>
              <a:t>BUY LIMITED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59" y="21945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매수 축소 (50~70%)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1999" y="265176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Risk: DD_CAUTION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1999" y="29718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Data: Warning (90~180s)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1999" y="3291839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RECON: Clean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46719" y="1371600"/>
            <a:ext cx="3474720" cy="2560320"/>
          </a:xfrm>
          <a:prstGeom prst="roundRect">
            <a:avLst/>
          </a:prstGeom>
          <a:solidFill>
            <a:srgbClr val="330A0E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46719" y="1371600"/>
            <a:ext cx="3474720" cy="54864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599" y="1645920"/>
            <a:ext cx="31089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3344"/>
                </a:solidFill>
                <a:latin typeface="Consolas"/>
              </a:defRPr>
            </a:pPr>
            <a:r>
              <a:t>BUY BLOCKED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599" y="219456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매수 차단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1039" y="265176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Risk: DD_CRITICAL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39" y="2971800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Data: STALE (&gt;180s)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1039" y="3291839"/>
            <a:ext cx="29260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Consolas"/>
              </a:defRPr>
            </a:pPr>
            <a:r>
              <a:t>RECON: Unreliable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06240"/>
            <a:ext cx="1106424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389120"/>
            <a:ext cx="27432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KPI VERTICAL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46634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Decision Hub 하단에 5개 KPI 카드 수직 배치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120640"/>
            <a:ext cx="2057400" cy="1005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5212080"/>
            <a:ext cx="17373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TODAY PNL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5800" y="54864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88"/>
                </a:solidFill>
                <a:latin typeface="Consolas"/>
              </a:defRPr>
            </a:pPr>
            <a:r>
              <a:t>+1.82%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88920" y="5120640"/>
            <a:ext cx="2057400" cy="1005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926080" y="5212080"/>
            <a:ext cx="17373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CURRENT MDD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926080" y="54864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FDD00"/>
                </a:solidFill>
                <a:latin typeface="Consolas"/>
              </a:defRPr>
            </a:pPr>
            <a:r>
              <a:t>-3.2%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0" y="5120640"/>
            <a:ext cx="2057400" cy="1005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166360" y="5212080"/>
            <a:ext cx="17373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POSITIONS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54864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F0F0F0"/>
                </a:solidFill>
                <a:latin typeface="Consolas"/>
              </a:defRPr>
            </a:pPr>
            <a:r>
              <a:t>18 / 20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269480" y="5120640"/>
            <a:ext cx="2057400" cy="1005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5212080"/>
            <a:ext cx="17373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CASH RATIO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06640" y="54864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44CCCC"/>
                </a:solidFill>
                <a:latin typeface="Consolas"/>
              </a:defRPr>
            </a:pPr>
            <a:r>
              <a:t>12.4%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509760" y="5120640"/>
            <a:ext cx="2057400" cy="100584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646920" y="5212080"/>
            <a:ext cx="173736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CUMULATIVE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46920" y="5486400"/>
            <a:ext cx="173736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88"/>
                </a:solidFill>
                <a:latin typeface="Consolas"/>
              </a:defRPr>
            </a:pPr>
            <a:r>
              <a:t>+47.3%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HERO CHART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핵심 컴포넌트 #2  —  중앙 55% 대형 차트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347472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630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88"/>
                </a:solidFill>
                <a:latin typeface="Consolas"/>
              </a:defRPr>
            </a:pPr>
            <a:r>
              <a:t>01  EQUITY CURVE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20"/>
            <a:ext cx="3200400" cy="137160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2194560"/>
            <a:ext cx="6400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54480" y="2560320"/>
            <a:ext cx="6400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286000" y="2194560"/>
            <a:ext cx="6400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017520" y="2560320"/>
            <a:ext cx="640080" cy="254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38328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Portfolio vs KOSPI 비교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75887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1D / 1W / 1M 기간 전환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68496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초과수익률 오버레이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261104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흐릿날 애니메이션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79" y="1280160"/>
            <a:ext cx="3474720" cy="347472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79" y="1280160"/>
            <a:ext cx="3474720" cy="45720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59" y="14630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99FF"/>
                </a:solidFill>
                <a:latin typeface="Consolas"/>
              </a:defRPr>
            </a:pPr>
            <a:r>
              <a:t>02  PnL WATERFALL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34839" y="1874520"/>
            <a:ext cx="3200400" cy="137160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617719" y="2066543"/>
            <a:ext cx="320040" cy="58521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39" y="2212848"/>
            <a:ext cx="320040" cy="43891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23559" y="2432304"/>
            <a:ext cx="320040" cy="21945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126479" y="2651760"/>
            <a:ext cx="320040" cy="146304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629399" y="2651760"/>
            <a:ext cx="320040" cy="36576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132319" y="2651760"/>
            <a:ext cx="320040" cy="512063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480559" y="338328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종목별 수익/손실 바 차트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3675887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PnL% 기준 정렬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3968496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호버 시 상세정보 툴팁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80559" y="4261104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상위/하위 종목 하이라이트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19" y="1280160"/>
            <a:ext cx="3474720" cy="347472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6719" y="1280160"/>
            <a:ext cx="3474720" cy="4572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599" y="146304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3344"/>
                </a:solidFill>
                <a:latin typeface="Consolas"/>
              </a:defRPr>
            </a:pPr>
            <a:r>
              <a:t>03  RISK HEATMAP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83879" y="1874520"/>
            <a:ext cx="3200400" cy="137160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8275319" y="1965960"/>
            <a:ext cx="502920" cy="3200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8851391" y="1965960"/>
            <a:ext cx="502920" cy="320040"/>
          </a:xfrm>
          <a:prstGeom prst="roundRect">
            <a:avLst/>
          </a:prstGeom>
          <a:solidFill>
            <a:srgbClr val="00C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9427463" y="1965960"/>
            <a:ext cx="502920" cy="320040"/>
          </a:xfrm>
          <a:prstGeom prst="round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10003535" y="1965960"/>
            <a:ext cx="502920" cy="32004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10579607" y="1965960"/>
            <a:ext cx="502920" cy="32004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8275319" y="2350008"/>
            <a:ext cx="502920" cy="320040"/>
          </a:xfrm>
          <a:prstGeom prst="round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8851391" y="2350008"/>
            <a:ext cx="502920" cy="32004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9427463" y="2350008"/>
            <a:ext cx="502920" cy="32004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10003535" y="2350008"/>
            <a:ext cx="502920" cy="3200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10579607" y="2350008"/>
            <a:ext cx="502920" cy="320040"/>
          </a:xfrm>
          <a:prstGeom prst="roundRect">
            <a:avLst/>
          </a:prstGeom>
          <a:solidFill>
            <a:srgbClr val="00C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275319" y="2734055"/>
            <a:ext cx="502920" cy="32004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8851391" y="2734055"/>
            <a:ext cx="502920" cy="32004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427463" y="2734055"/>
            <a:ext cx="502920" cy="320040"/>
          </a:xfrm>
          <a:prstGeom prst="roundRect">
            <a:avLst/>
          </a:prstGeom>
          <a:solidFill>
            <a:srgbClr val="00C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03535" y="2734055"/>
            <a:ext cx="502920" cy="320040"/>
          </a:xfrm>
          <a:prstGeom prst="round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10579607" y="2734055"/>
            <a:ext cx="502920" cy="320040"/>
          </a:xfrm>
          <a:prstGeom prst="round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229599" y="338328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20종목 격자 배치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599" y="3675887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Trail Gap % 색상 코딩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599" y="3968496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Cluster DD 감지 표시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229599" y="4261104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▸  Gap &lt;2% 폄스 애니메이션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029200"/>
            <a:ext cx="1106424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5212080"/>
            <a:ext cx="11064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Consolas"/>
              </a:defRPr>
            </a:pPr>
            <a:r>
              <a:t>CHART FOOTER:  Top Performer  ·  Bottom Performer  ·  Sharpe Ratio  ·  Win Rate  ·  Excess Return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ALERT STREAM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핵심 컴포넌트 #3  —  AI Advisor 통합 알림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0F0"/>
                </a:solidFill>
                <a:latin typeface="Segoe UI"/>
              </a:defRPr>
            </a:pPr>
            <a:r>
              <a:t>4-LEVEL PRIORITY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5029200" cy="8686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54864" cy="86868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1874520"/>
            <a:ext cx="164592" cy="164592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182880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3344"/>
                </a:solidFill>
                <a:latin typeface="Consolas"/>
              </a:defRPr>
            </a:pPr>
            <a: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184708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즉시 확인 필수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945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DD Guard 발동, SAFE_MODE, RECON 이상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788920"/>
            <a:ext cx="5029200" cy="8686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8640" y="2788920"/>
            <a:ext cx="54864" cy="86868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2926080"/>
            <a:ext cx="164592" cy="164592"/>
          </a:xfrm>
          <a:prstGeom prst="ellipse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288036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8800"/>
                </a:solidFill>
                <a:latin typeface="Consolas"/>
              </a:defRPr>
            </a:pPr>
            <a:r>
              <a:t>HIGH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0" y="289864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빠른 확인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32461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Trail Stop 근접, Cluster DD, Volume Anomaly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840479"/>
            <a:ext cx="5029200" cy="8686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840479"/>
            <a:ext cx="54864" cy="86868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7240" y="3977639"/>
            <a:ext cx="164592" cy="164592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3931919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D00"/>
                </a:solidFill>
                <a:latin typeface="Consolas"/>
              </a:defRPr>
            </a:pPr>
            <a:r>
              <a:t>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3950207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참고 정보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297679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Win Rate 하락, 파라미터 추천, 집중도 경고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892040"/>
            <a:ext cx="5029200" cy="8686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8640" y="4892040"/>
            <a:ext cx="54864" cy="868680"/>
          </a:xfrm>
          <a:prstGeom prst="rect">
            <a:avLst/>
          </a:prstGeom>
          <a:solidFill>
            <a:srgbClr val="60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77240" y="5029200"/>
            <a:ext cx="164592" cy="164592"/>
          </a:xfrm>
          <a:prstGeom prst="ellipse">
            <a:avLst/>
          </a:prstGeom>
          <a:solidFill>
            <a:srgbClr val="60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4983480"/>
            <a:ext cx="18288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606880"/>
                </a:solidFill>
                <a:latin typeface="Consolas"/>
              </a:defRPr>
            </a:pPr>
            <a:r>
              <a:t>LOW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0176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배경 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34924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시스템 상태, 데이터 품질, 배치 결과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17920" y="1280160"/>
            <a:ext cx="5486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0F0"/>
                </a:solidFill>
                <a:latin typeface="Segoe UI"/>
              </a:defRPr>
            </a:pPr>
            <a:r>
              <a:t>AI ADVISOR 4-PHASE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1737360"/>
            <a:ext cx="539496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1737360"/>
            <a:ext cx="5394960" cy="36576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55080" y="1847088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699FF"/>
                </a:solidFill>
                <a:latin typeface="Consolas"/>
              </a:defRPr>
            </a:pPr>
            <a:r>
              <a:t>Phase 1-2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0" y="184708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0F0F0"/>
                </a:solidFill>
                <a:latin typeface="Segoe UI"/>
              </a:defRPr>
            </a:pPr>
            <a:r>
              <a:t>FACT ANALYSIS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5080" y="21945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PnL Attribution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5080" y="256032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MDD Contributors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915399" y="219456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Entry/Exit Quality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15399" y="256032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Operational Issues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291839"/>
            <a:ext cx="539496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17920" y="3291839"/>
            <a:ext cx="5394960" cy="36576"/>
          </a:xfrm>
          <a:prstGeom prst="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55080" y="3401567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4CCCC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589520" y="3401567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0F0F0"/>
                </a:solidFill>
                <a:latin typeface="Segoe UI"/>
              </a:defRPr>
            </a:pPr>
            <a:r>
              <a:t>RECOMMENDATIONS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355080" y="3749039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TRAIL_PCT 조정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355080" y="4114799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REBAL_DAYS 제안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915399" y="3749039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Strategy Drift 감지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915399" y="4114799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Confidence: LOW/MED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17920" y="4846320"/>
            <a:ext cx="539496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217920" y="4846320"/>
            <a:ext cx="5394960" cy="36576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355080" y="4956048"/>
            <a:ext cx="10972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F3344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4956048"/>
            <a:ext cx="27432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0F0F0"/>
                </a:solidFill>
                <a:latin typeface="Segoe UI"/>
              </a:defRPr>
            </a:pPr>
            <a:r>
              <a:t>INTRADAY RISK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5080" y="530352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Flash Drop 감지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55080" y="566928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Volume Anomaly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915399" y="530352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VWAP Divergence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915399" y="5669280"/>
            <a:ext cx="2468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▸  Cluster DD Alert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POSITION GRID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핵심 컴포넌트 #4  —  20종목 카드형 타일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2103120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35331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삼성전자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+8.2%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16276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32d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181051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7.1%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88920" y="128016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788920" y="1280160"/>
            <a:ext cx="2103120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880360" y="135331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SK하이닉스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80360" y="1600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+5.7%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86200" y="16276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28d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0" y="181051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5.3%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28016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280160"/>
            <a:ext cx="2103120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35331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현대차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600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+4.1%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16276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15d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26480" y="181051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8.2%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269480" y="128016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269480" y="1280160"/>
            <a:ext cx="2103120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0920" y="135331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LG에너지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60920" y="1600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+3.3%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16276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22d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181051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4.8%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509760" y="128016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509760" y="1280160"/>
            <a:ext cx="2103120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01200" y="135331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POSCO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0" y="160020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+2.8%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07040" y="16276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31d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7040" y="181051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6.4%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251460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2514600"/>
            <a:ext cx="2103120" cy="27432"/>
          </a:xfrm>
          <a:prstGeom prst="rect">
            <a:avLst/>
          </a:prstGeom>
          <a:solidFill>
            <a:srgbClr val="00C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58775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카카오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2834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C6A"/>
                </a:solidFill>
                <a:latin typeface="Consolas"/>
              </a:defRPr>
            </a:pPr>
            <a:r>
              <a:t>+2.1%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45920" y="286207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18d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645920" y="3044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3.2%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2788920" y="251460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788920" y="2514600"/>
            <a:ext cx="2103120" cy="27432"/>
          </a:xfrm>
          <a:prstGeom prst="rect">
            <a:avLst/>
          </a:prstGeom>
          <a:solidFill>
            <a:srgbClr val="00C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880360" y="258775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네이버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880360" y="2834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C6A"/>
                </a:solidFill>
                <a:latin typeface="Consolas"/>
              </a:defRPr>
            </a:pPr>
            <a:r>
              <a:t>+1.5%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86200" y="286207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12d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86200" y="3044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9.1%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029200" y="2514600"/>
            <a:ext cx="2103120" cy="10972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2514600"/>
            <a:ext cx="2103120" cy="274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120640" y="258775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KB금융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120640" y="2834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Consolas"/>
              </a:defRPr>
            </a:pPr>
            <a:r>
              <a:t>+0.8%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126480" y="286207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25d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126480" y="3044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11.2%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269480" y="2514600"/>
            <a:ext cx="2103120" cy="10972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269480" y="2514600"/>
            <a:ext cx="2103120" cy="274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360920" y="258775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삼성물산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360920" y="2834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Consolas"/>
              </a:defRPr>
            </a:pPr>
            <a:r>
              <a:t>+0.3%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66760" y="286207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9d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66760" y="3044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10.5%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9509760" y="2514600"/>
            <a:ext cx="2103120" cy="10972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509760" y="2514600"/>
            <a:ext cx="2103120" cy="274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601200" y="258775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한화솔루션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601200" y="283464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Consolas"/>
              </a:defRPr>
            </a:pPr>
            <a:r>
              <a:t>-0.2%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607040" y="286207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7d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607040" y="3044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8.7%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548640" y="3749039"/>
            <a:ext cx="2103120" cy="10972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48640" y="3749039"/>
            <a:ext cx="2103120" cy="2743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0080" y="3822191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LG화학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40080" y="4069079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8800"/>
                </a:solidFill>
                <a:latin typeface="Consolas"/>
              </a:defRPr>
            </a:pPr>
            <a:r>
              <a:t>-0.9%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645920" y="409651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14d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645920" y="427939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5.5%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2788920" y="3749039"/>
            <a:ext cx="2103120" cy="10972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788920" y="3749039"/>
            <a:ext cx="2103120" cy="2743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2880360" y="3822191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기아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880360" y="4069079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8800"/>
                </a:solidFill>
                <a:latin typeface="Consolas"/>
              </a:defRPr>
            </a:pPr>
            <a:r>
              <a:t>-1.5%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3886200" y="409651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20d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3886200" y="427939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3.8%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5029200" y="3749039"/>
            <a:ext cx="2103120" cy="1097280"/>
          </a:xfrm>
          <a:prstGeom prst="roundRect">
            <a:avLst/>
          </a:prstGeom>
          <a:solidFill>
            <a:srgbClr val="1A080A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5029200" y="3749039"/>
            <a:ext cx="2103120" cy="27432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120640" y="3822191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현대모비스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5120640" y="4069079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3344"/>
                </a:solidFill>
                <a:latin typeface="Consolas"/>
              </a:defRPr>
            </a:pPr>
            <a:r>
              <a:t>-2.1%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6126480" y="409651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11d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126480" y="427939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DD00"/>
                </a:solidFill>
                <a:latin typeface="Consolas"/>
              </a:defRPr>
            </a:pPr>
            <a:r>
              <a:t>Gap 2.9%</a:t>
            </a:r>
          </a:p>
        </p:txBody>
      </p:sp>
      <p:sp>
        <p:nvSpPr>
          <p:cNvPr id="84" name="Oval 83"/>
          <p:cNvSpPr/>
          <p:nvPr/>
        </p:nvSpPr>
        <p:spPr>
          <a:xfrm>
            <a:off x="6858000" y="3822191"/>
            <a:ext cx="137160" cy="137160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858000" y="3803903"/>
            <a:ext cx="13716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0F0F0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7269480" y="3749039"/>
            <a:ext cx="2103120" cy="1097280"/>
          </a:xfrm>
          <a:prstGeom prst="roundRect">
            <a:avLst/>
          </a:prstGeom>
          <a:solidFill>
            <a:srgbClr val="1A080A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269480" y="3749039"/>
            <a:ext cx="2103120" cy="27432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7360920" y="3822191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S-Oil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7360920" y="4069079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3344"/>
                </a:solidFill>
                <a:latin typeface="Consolas"/>
              </a:defRPr>
            </a:pPr>
            <a:r>
              <a:t>-2.8%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366760" y="409651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26d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366760" y="427939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DD00"/>
                </a:solidFill>
                <a:latin typeface="Consolas"/>
              </a:defRPr>
            </a:pPr>
            <a:r>
              <a:t>Gap 2.1%</a:t>
            </a:r>
          </a:p>
        </p:txBody>
      </p:sp>
      <p:sp>
        <p:nvSpPr>
          <p:cNvPr id="92" name="Oval 91"/>
          <p:cNvSpPr/>
          <p:nvPr/>
        </p:nvSpPr>
        <p:spPr>
          <a:xfrm>
            <a:off x="9098280" y="3822191"/>
            <a:ext cx="137160" cy="137160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098280" y="3803903"/>
            <a:ext cx="13716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0F0F0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509760" y="3749039"/>
            <a:ext cx="2103120" cy="1097280"/>
          </a:xfrm>
          <a:prstGeom prst="roundRect">
            <a:avLst/>
          </a:prstGeom>
          <a:solidFill>
            <a:srgbClr val="1A080A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509760" y="3749039"/>
            <a:ext cx="2103120" cy="27432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9601200" y="3822191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두산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601200" y="4069079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3344"/>
                </a:solidFill>
                <a:latin typeface="Consolas"/>
              </a:defRPr>
            </a:pPr>
            <a:r>
              <a:t>-3.5%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607040" y="409651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16d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0607040" y="4279391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FFDD00"/>
                </a:solidFill>
                <a:latin typeface="Consolas"/>
              </a:defRPr>
            </a:pPr>
            <a:r>
              <a:t>Gap 1.4%</a:t>
            </a:r>
          </a:p>
        </p:txBody>
      </p:sp>
      <p:sp>
        <p:nvSpPr>
          <p:cNvPr id="100" name="Oval 99"/>
          <p:cNvSpPr/>
          <p:nvPr/>
        </p:nvSpPr>
        <p:spPr>
          <a:xfrm>
            <a:off x="11338560" y="3822191"/>
            <a:ext cx="137160" cy="137160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11338560" y="3803903"/>
            <a:ext cx="137160" cy="137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0F0F0"/>
                </a:solidFill>
                <a:latin typeface="Consolas"/>
              </a:defRPr>
            </a:pPr>
            <a:r>
              <a:t>!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548640" y="498348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48640" y="4983480"/>
            <a:ext cx="2103120" cy="27432"/>
          </a:xfrm>
          <a:prstGeom prst="rect">
            <a:avLst/>
          </a:prstGeom>
          <a:solidFill>
            <a:srgbClr val="00C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640080" y="505663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한전KPS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640080" y="5303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C6A"/>
                </a:solidFill>
                <a:latin typeface="Consolas"/>
              </a:defRPr>
            </a:pPr>
            <a:r>
              <a:t>+1.2%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645920" y="5330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19d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645920" y="55138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6.8%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2788920" y="498348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788920" y="4983480"/>
            <a:ext cx="2103120" cy="27432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80360" y="505663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삼성SDI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2880360" y="5303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+4.5%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3886200" y="5330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24d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886200" y="55138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5.0%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029200" y="4983480"/>
            <a:ext cx="2103120" cy="10972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5029200" y="4983480"/>
            <a:ext cx="2103120" cy="27432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5120640" y="505663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청호나이스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120640" y="5303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Consolas"/>
              </a:defRPr>
            </a:pPr>
            <a:r>
              <a:t>-0.5%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126480" y="5330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8d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6126480" y="55138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9.3%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7269480" y="4983480"/>
            <a:ext cx="2103120" cy="1097280"/>
          </a:xfrm>
          <a:prstGeom prst="roundRect">
            <a:avLst/>
          </a:prstGeom>
          <a:solidFill>
            <a:srgbClr val="081A12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7269480" y="4983480"/>
            <a:ext cx="2103120" cy="27432"/>
          </a:xfrm>
          <a:prstGeom prst="rect">
            <a:avLst/>
          </a:prstGeom>
          <a:solidFill>
            <a:srgbClr val="00CC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7360920" y="505663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KT&amp;G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7360920" y="5303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CC6A"/>
                </a:solidFill>
                <a:latin typeface="Consolas"/>
              </a:defRPr>
            </a:pPr>
            <a:r>
              <a:t>+1.8%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8366760" y="5330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30d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8366760" y="55138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7.7%</a:t>
            </a:r>
          </a:p>
        </p:txBody>
      </p:sp>
      <p:sp>
        <p:nvSpPr>
          <p:cNvPr id="126" name="Rounded Rectangle 125"/>
          <p:cNvSpPr/>
          <p:nvPr/>
        </p:nvSpPr>
        <p:spPr>
          <a:xfrm>
            <a:off x="9509760" y="4983480"/>
            <a:ext cx="2103120" cy="1097280"/>
          </a:xfrm>
          <a:prstGeom prst="roundRect">
            <a:avLst/>
          </a:prstGeom>
          <a:solidFill>
            <a:srgbClr val="1A120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9509760" y="4983480"/>
            <a:ext cx="2103120" cy="27432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9601200" y="5056632"/>
            <a:ext cx="192024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한국전력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9601200" y="5303520"/>
            <a:ext cx="9144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8800"/>
                </a:solidFill>
                <a:latin typeface="Consolas"/>
              </a:defRPr>
            </a:pPr>
            <a:r>
              <a:t>-1.2%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607040" y="533095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Hold 13d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10607040" y="5513832"/>
            <a:ext cx="7315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06880"/>
                </a:solidFill>
                <a:latin typeface="Consolas"/>
              </a:defRPr>
            </a:pPr>
            <a:r>
              <a:t>Gap 4.1%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548640" y="6309360"/>
            <a:ext cx="10972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Consolas"/>
              </a:defRPr>
            </a:pPr>
            <a:r>
              <a:t>SORT:  PnL%  ·  Trail Gap  ·  Hold Days  ·  Sector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SYSTEM HEARTBEAT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핵심 컴포넌트 #5  —  시스템 생명선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88"/>
                </a:solidFill>
                <a:latin typeface="Consolas"/>
              </a:defRPr>
            </a:pPr>
            <a:r>
              <a:t>NORMAL MODE  —  Minimal (8px)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64240" cy="36576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22960" y="1719072"/>
            <a:ext cx="128016" cy="128016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24128" y="16916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06880"/>
                </a:solidFill>
                <a:latin typeface="Consolas"/>
              </a:defRPr>
            </a:pPr>
            <a:r>
              <a:t>ENGINE</a:t>
            </a:r>
          </a:p>
        </p:txBody>
      </p:sp>
      <p:sp>
        <p:nvSpPr>
          <p:cNvPr id="10" name="Oval 9"/>
          <p:cNvSpPr/>
          <p:nvPr/>
        </p:nvSpPr>
        <p:spPr>
          <a:xfrm>
            <a:off x="3017520" y="1719072"/>
            <a:ext cx="128016" cy="128016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18688" y="16916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06880"/>
                </a:solidFill>
                <a:latin typeface="Consolas"/>
              </a:defRPr>
            </a:pPr>
            <a:r>
              <a:t>STALE</a:t>
            </a:r>
          </a:p>
        </p:txBody>
      </p:sp>
      <p:sp>
        <p:nvSpPr>
          <p:cNvPr id="12" name="Oval 11"/>
          <p:cNvSpPr/>
          <p:nvPr/>
        </p:nvSpPr>
        <p:spPr>
          <a:xfrm>
            <a:off x="5212080" y="1719072"/>
            <a:ext cx="128016" cy="128016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13248" y="16916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06880"/>
                </a:solidFill>
                <a:latin typeface="Consolas"/>
              </a:defRPr>
            </a:pPr>
            <a:r>
              <a:t>RISK</a:t>
            </a:r>
          </a:p>
        </p:txBody>
      </p:sp>
      <p:sp>
        <p:nvSpPr>
          <p:cNvPr id="14" name="Oval 13"/>
          <p:cNvSpPr/>
          <p:nvPr/>
        </p:nvSpPr>
        <p:spPr>
          <a:xfrm>
            <a:off x="7406640" y="1719072"/>
            <a:ext cx="128016" cy="128016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7808" y="16916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06880"/>
                </a:solidFill>
                <a:latin typeface="Consolas"/>
              </a:defRPr>
            </a:pPr>
            <a:r>
              <a:t>REGIME</a:t>
            </a:r>
          </a:p>
        </p:txBody>
      </p:sp>
      <p:sp>
        <p:nvSpPr>
          <p:cNvPr id="16" name="Oval 15"/>
          <p:cNvSpPr/>
          <p:nvPr/>
        </p:nvSpPr>
        <p:spPr>
          <a:xfrm>
            <a:off x="9601200" y="1719072"/>
            <a:ext cx="128016" cy="128016"/>
          </a:xfrm>
          <a:prstGeom prst="ellipse">
            <a:avLst/>
          </a:prstGeom>
          <a:solidFill>
            <a:srgbClr val="60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02368" y="1691640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06880"/>
                </a:solidFill>
                <a:latin typeface="Consolas"/>
              </a:defRPr>
            </a:pPr>
            <a:r>
              <a:t>15:32:01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3774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3344"/>
                </a:solidFill>
                <a:latin typeface="Consolas"/>
              </a:defRPr>
            </a:pPr>
            <a:r>
              <a:t>ALERT MODE  —  Expanded (40px)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43200"/>
            <a:ext cx="11064240" cy="914400"/>
          </a:xfrm>
          <a:prstGeom prst="roundRect">
            <a:avLst/>
          </a:prstGeom>
          <a:solidFill>
            <a:srgbClr val="1A080A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2880360"/>
            <a:ext cx="128016" cy="128016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2852928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onsolas"/>
              </a:defRPr>
            </a:pPr>
            <a:r>
              <a:t>ENGINE</a:t>
            </a:r>
          </a:p>
        </p:txBody>
      </p:sp>
      <p:sp>
        <p:nvSpPr>
          <p:cNvPr id="22" name="Oval 21"/>
          <p:cNvSpPr/>
          <p:nvPr/>
        </p:nvSpPr>
        <p:spPr>
          <a:xfrm>
            <a:off x="3017520" y="2880360"/>
            <a:ext cx="128016" cy="128016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18688" y="2852928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3344"/>
                </a:solidFill>
                <a:latin typeface="Consolas"/>
              </a:defRPr>
            </a:pPr>
            <a:r>
              <a:t>STALE</a:t>
            </a:r>
          </a:p>
        </p:txBody>
      </p:sp>
      <p:sp>
        <p:nvSpPr>
          <p:cNvPr id="24" name="Oval 23"/>
          <p:cNvSpPr/>
          <p:nvPr/>
        </p:nvSpPr>
        <p:spPr>
          <a:xfrm>
            <a:off x="5212080" y="2880360"/>
            <a:ext cx="128016" cy="128016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13248" y="2852928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3344"/>
                </a:solidFill>
                <a:latin typeface="Consolas"/>
              </a:defRPr>
            </a:pPr>
            <a:r>
              <a:t>RISK</a:t>
            </a:r>
          </a:p>
        </p:txBody>
      </p:sp>
      <p:sp>
        <p:nvSpPr>
          <p:cNvPr id="26" name="Oval 25"/>
          <p:cNvSpPr/>
          <p:nvPr/>
        </p:nvSpPr>
        <p:spPr>
          <a:xfrm>
            <a:off x="7406640" y="2880360"/>
            <a:ext cx="128016" cy="128016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7808" y="2852928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DD00"/>
                </a:solidFill>
                <a:latin typeface="Consolas"/>
              </a:defRPr>
            </a:pPr>
            <a:r>
              <a:t>REGIME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0" y="2880360"/>
            <a:ext cx="128016" cy="128016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02368" y="2852928"/>
            <a:ext cx="1371600" cy="2011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3344"/>
                </a:solidFill>
                <a:latin typeface="Consolas"/>
              </a:defRPr>
            </a:pPr>
            <a:r>
              <a:t>15:32:01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" y="3200400"/>
            <a:ext cx="10515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3344"/>
                </a:solidFill>
                <a:latin typeface="Consolas"/>
              </a:defRPr>
            </a:pPr>
            <a:r>
              <a:t>⚠  STALE DATA (243s)  |  RISK: DD_SEVERE  |  BUY BLOCKED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02336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RISK MODE 계층 (8단계)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943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00FF88"/>
                </a:solidFill>
                <a:latin typeface="Consolas"/>
              </a:defRPr>
            </a:pPr>
            <a:r>
              <a:t>NORMAL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783080" y="4462272"/>
            <a:ext cx="137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048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9202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DD00"/>
                </a:solidFill>
                <a:latin typeface="Consolas"/>
              </a:defRPr>
            </a:pPr>
            <a:r>
              <a:t>DD_CAUTION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54680" y="4462272"/>
            <a:ext cx="137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048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2918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375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DD00"/>
                </a:solidFill>
                <a:latin typeface="Consolas"/>
              </a:defRPr>
            </a:pPr>
            <a:r>
              <a:t>DD_WARNING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26280" y="4462272"/>
            <a:ext cx="137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048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6634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091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8800"/>
                </a:solidFill>
                <a:latin typeface="Consolas"/>
              </a:defRPr>
            </a:pPr>
            <a:r>
              <a:t>DD_SEVERE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4462272"/>
            <a:ext cx="137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048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0350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0807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3344"/>
                </a:solidFill>
                <a:latin typeface="Consolas"/>
              </a:defRPr>
            </a:pPr>
            <a:r>
              <a:t>DD_CRITICAL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462272"/>
            <a:ext cx="137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048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066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523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3344"/>
                </a:solidFill>
                <a:latin typeface="Consolas"/>
              </a:defRPr>
            </a:pPr>
            <a:r>
              <a:t>SAFE_L1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41080" y="4462272"/>
            <a:ext cx="137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048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87782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8239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3344"/>
                </a:solidFill>
                <a:latin typeface="Consolas"/>
              </a:defRPr>
            </a:pPr>
            <a:r>
              <a:t>SAFE_L2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012680" y="4462272"/>
            <a:ext cx="1371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404858"/>
                </a:solidFill>
                <a:latin typeface="Consolas"/>
              </a:defRPr>
            </a:pPr>
            <a:r>
              <a:t>→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149840" y="4389120"/>
            <a:ext cx="123444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195560" y="4462272"/>
            <a:ext cx="1143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1">
                <a:solidFill>
                  <a:srgbClr val="FF3344"/>
                </a:solidFill>
                <a:latin typeface="Consolas"/>
              </a:defRPr>
            </a:pPr>
            <a:r>
              <a:t>BLOCKED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120640"/>
            <a:ext cx="5486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STALE DETECTION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548640" y="5486400"/>
            <a:ext cx="3474720" cy="6400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48640" y="5486400"/>
            <a:ext cx="45720" cy="64008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31520" y="555955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88"/>
                </a:solidFill>
                <a:latin typeface="Consolas"/>
              </a:defRPr>
            </a:pPr>
            <a:r>
              <a:t>&lt;90s  FRESH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31520" y="583387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정상 운영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297679" y="5486400"/>
            <a:ext cx="3474720" cy="6400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297679" y="5486400"/>
            <a:ext cx="45720" cy="64008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480559" y="555955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D00"/>
                </a:solidFill>
                <a:latin typeface="Consolas"/>
              </a:defRPr>
            </a:pPr>
            <a:r>
              <a:t>90~180s  WARN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480559" y="583387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주의 — BUY LIMITED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8046719" y="5486400"/>
            <a:ext cx="3474720" cy="6400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8046719" y="5486400"/>
            <a:ext cx="45720" cy="64008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229599" y="555955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3344"/>
                </a:solidFill>
                <a:latin typeface="Consolas"/>
              </a:defRPr>
            </a:pPr>
            <a:r>
              <a:t>&gt;180s  STALE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599" y="5833872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위험 — BUY BLOCKED + 배너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COLOR SYSTEM &amp; TYPOGRAPHY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컬러 시스템 &amp; 타이포그래피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SIGNAL PALETTE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011680" cy="73152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0810"/>
                </a:solidFill>
                <a:latin typeface="Consolas"/>
              </a:defRPr>
            </a:pPr>
            <a:r>
              <a:t>#00FF88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231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Signal Green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517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수익, 정상, BUY OK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88920" y="1645920"/>
            <a:ext cx="2011680" cy="73152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80360" y="17373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0810"/>
                </a:solidFill>
                <a:latin typeface="Consolas"/>
              </a:defRPr>
            </a:pPr>
            <a:r>
              <a:t>#FF3344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4231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Alert Red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88920" y="26517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손실, 위험, BLOCKED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1645920"/>
            <a:ext cx="2011680" cy="731520"/>
          </a:xfrm>
          <a:prstGeom prst="round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7373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0810"/>
                </a:solidFill>
                <a:latin typeface="Consolas"/>
              </a:defRPr>
            </a:pPr>
            <a:r>
              <a:t>#FFDD00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24231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Caution Yellow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6517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주의, LIMITED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69480" y="1645920"/>
            <a:ext cx="2011680" cy="731520"/>
          </a:xfrm>
          <a:prstGeom prst="round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60920" y="17373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0810"/>
                </a:solidFill>
                <a:latin typeface="Consolas"/>
              </a:defRPr>
            </a:pPr>
            <a:r>
              <a:t>#6699FF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80" y="24231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Info Blue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26517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중립, KOSPI, 참고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09760" y="1645920"/>
            <a:ext cx="2011680" cy="731520"/>
          </a:xfrm>
          <a:prstGeom prst="round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0" y="1737360"/>
            <a:ext cx="18288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60810"/>
                </a:solidFill>
                <a:latin typeface="Consolas"/>
              </a:defRPr>
            </a:pPr>
            <a:r>
              <a:t>#44CCCC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24231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F0F0F0"/>
                </a:solidFill>
                <a:latin typeface="Segoe UI"/>
              </a:defRPr>
            </a:pPr>
            <a:r>
              <a:t>Cyan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09760" y="2651760"/>
            <a:ext cx="201168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보조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0175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BACKGROUND LAYERS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3383280"/>
            <a:ext cx="2560320" cy="914400"/>
          </a:xfrm>
          <a:prstGeom prst="roundRect">
            <a:avLst/>
          </a:prstGeom>
          <a:solidFill>
            <a:srgbClr val="060810"/>
          </a:solidFill>
          <a:ln w="12700">
            <a:solidFill>
              <a:srgbClr val="60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" y="35204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Consolas"/>
              </a:defRPr>
            </a:pPr>
            <a:r>
              <a:t>#060810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38862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L0  Main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37560" y="3383280"/>
            <a:ext cx="2560320" cy="9144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60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74720" y="35204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Consolas"/>
              </a:defRPr>
            </a:pPr>
            <a:r>
              <a:t>#0E1118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38862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L1  Card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26479" y="3383280"/>
            <a:ext cx="2560320" cy="91440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60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39" y="35204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Consolas"/>
              </a:defRPr>
            </a:pPr>
            <a:r>
              <a:t>#161A24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63639" y="38862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L2  Hover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915399" y="3383280"/>
            <a:ext cx="2560320" cy="914400"/>
          </a:xfrm>
          <a:prstGeom prst="roundRect">
            <a:avLst/>
          </a:prstGeom>
          <a:solidFill>
            <a:srgbClr val="1E2230"/>
          </a:solidFill>
          <a:ln w="12700">
            <a:solidFill>
              <a:srgbClr val="60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52559" y="3520440"/>
            <a:ext cx="22860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Consolas"/>
              </a:defRPr>
            </a:pPr>
            <a:r>
              <a:t>#1E2230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59" y="38862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L3  Active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TYPOGRAPHY HIERARCHY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48640" y="4937760"/>
            <a:ext cx="3474720" cy="118872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5800" y="502920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NUMBERS &amp; DATA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5800" y="53035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Consolas  ·  Monospace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5800" y="5577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00FF88"/>
                </a:solidFill>
                <a:latin typeface="Consolas"/>
              </a:defRPr>
            </a:pPr>
            <a:r>
              <a:t>+47.3%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79" y="4937760"/>
            <a:ext cx="3474720" cy="118872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34839" y="502920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LABELS &amp; UI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34839" y="53035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Segoe UI  ·  Sans-serif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434839" y="5577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0F0F0"/>
                </a:solidFill>
                <a:latin typeface="Segoe UI"/>
              </a:defRPr>
            </a:pPr>
            <a:r>
              <a:t>Today PnL  ·  Current MDD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46719" y="4937760"/>
            <a:ext cx="3474720" cy="118872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83879" y="502920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HEADINGS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83879" y="530352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Segoe UI Light  ·  28~40pt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183879" y="5577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F0F0F0"/>
                </a:solidFill>
                <a:latin typeface="Segoe UI Light"/>
              </a:defRPr>
            </a:pPr>
            <a:r>
              <a:t>Q-TRON CONSOLE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INTERACTION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인터랙션 설계  —  READ-ONLY 원칙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548640"/>
          </a:xfrm>
          <a:prstGeom prst="roundRect">
            <a:avLst/>
          </a:prstGeom>
          <a:solidFill>
            <a:srgbClr val="330A0E"/>
          </a:solidFill>
          <a:ln w="12700">
            <a:solidFill>
              <a:srgbClr val="FF33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3344"/>
                </a:solidFill>
                <a:latin typeface="Consolas"/>
              </a:defRPr>
            </a:pPr>
            <a:r>
              <a:t>⚠  READ-ONLY PRINCIPLE  —  모니터는 절대 주문을 실행할 수 없음  |  관찰 전용, 제어 불가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103120"/>
            <a:ext cx="2697480" cy="41148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103120"/>
            <a:ext cx="2697480" cy="36576"/>
          </a:xfrm>
          <a:prstGeom prst="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28600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44CCCC"/>
                </a:solidFill>
                <a:latin typeface="Consolas"/>
              </a:defRPr>
            </a:pPr>
            <a:r>
              <a:t>HOVER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6032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툴팁 시스템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880360"/>
            <a:ext cx="242316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차트 호버: 종목 상세 툴팁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4904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테이블 호버: 행 하이라이트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8912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카드 호버: 전체 정보 표시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029199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Trail Gap: 진입가/현재가/센터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29000" y="2103120"/>
            <a:ext cx="2697480" cy="41148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29000" y="2103120"/>
            <a:ext cx="2697480" cy="36576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66160" y="228600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99FF"/>
                </a:solidFill>
                <a:latin typeface="Consolas"/>
              </a:defRPr>
            </a:pPr>
            <a:r>
              <a:t>CLICK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66160" y="256032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모드 전환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566160" y="2880360"/>
            <a:ext cx="242316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66160" y="310896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차트 탭: Equity/PnL/Heatmap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66160" y="374904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정렬: PnL%/Gap/Hold Days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66160" y="438912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알림: 상세 펼침/접기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6160" y="5029199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KPI: 상세 팝업 토글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09359" y="2103120"/>
            <a:ext cx="2697480" cy="41148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09359" y="2103120"/>
            <a:ext cx="269748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46519" y="228600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88"/>
                </a:solidFill>
                <a:latin typeface="Consolas"/>
              </a:defRPr>
            </a:pPr>
            <a:r>
              <a:t>KEYBOARD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46519" y="256032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단축키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46519" y="2880360"/>
            <a:ext cx="242316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46519" y="310896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1/2/3: 차트 모드 전환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46519" y="374904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R: 즉시 새로고침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46519" y="438912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F: 전체화면 토글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46519" y="5029199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A: Advisor 패널 토글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189719" y="2103120"/>
            <a:ext cx="2697480" cy="41148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89719" y="2103120"/>
            <a:ext cx="2697480" cy="36576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79" y="2286000"/>
            <a:ext cx="24231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D00"/>
                </a:solidFill>
                <a:latin typeface="Consolas"/>
              </a:defRPr>
            </a:pPr>
            <a:r>
              <a:t>ANIMATION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26879" y="2560320"/>
            <a:ext cx="24231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알림 흐름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326879" y="2880360"/>
            <a:ext cx="242316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326879" y="310896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신규 → 슬라이드인 등장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326879" y="374904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3초 하이라이트 깜박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26879" y="4389120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스트림 합류 → 정렬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326879" y="5029199"/>
            <a:ext cx="24231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Trail &lt;2% 폄스 애니메이션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RESPONSIVE &amp; ADAPTIVE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반응형 &amp; 적응형 레이아웃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3657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164592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48132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88"/>
                </a:solidFill>
                <a:latin typeface="Consolas"/>
              </a:defRPr>
            </a:pPr>
            <a:r>
              <a:t>1920 x 1080+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14630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Consolas"/>
              </a:defRPr>
            </a:pPr>
            <a:r>
              <a:t>FULL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9202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전체 Mission Control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3774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Decision Hub + KPI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8346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Hero Chart (3모드)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91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Alert Stream + Advisor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7490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Position Grid 20종목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4206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System Heartbeat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79" y="1280160"/>
            <a:ext cx="3474720" cy="3657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79" y="1280160"/>
            <a:ext cx="3474720" cy="457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39" y="1463040"/>
            <a:ext cx="164592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39" y="148132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D00"/>
                </a:solidFill>
                <a:latin typeface="Consolas"/>
              </a:defRPr>
            </a:pPr>
            <a:r>
              <a:t>1280 x 720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19" y="14630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Consolas"/>
              </a:defRPr>
            </a:pPr>
            <a:r>
              <a:t>COMPACT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39" y="19202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2-Column 압축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39" y="23774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Decision + Chart (L)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39" y="28346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Alerts + Positions (R)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39" y="3291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KPI 수평 배치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39" y="37490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차트 1모드만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39" y="4206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알림 축소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19" y="1280160"/>
            <a:ext cx="3474720" cy="3657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046719" y="1280160"/>
            <a:ext cx="3474720" cy="45720"/>
          </a:xfrm>
          <a:prstGeom prst="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183879" y="1463040"/>
            <a:ext cx="164592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4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83879" y="1481328"/>
            <a:ext cx="16459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4CCCC"/>
                </a:solidFill>
                <a:latin typeface="Consolas"/>
              </a:defRPr>
            </a:pPr>
            <a:r>
              <a:t>800 x 600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66959" y="14630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0F0F0"/>
                </a:solidFill>
                <a:latin typeface="Consolas"/>
              </a:defRPr>
            </a:pPr>
            <a:r>
              <a:t>MINI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19202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F0F0F0"/>
                </a:solidFill>
                <a:latin typeface="Segoe UI"/>
              </a:defRPr>
            </a:pPr>
            <a:r>
              <a:t>PIP 모드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83879" y="23774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Decision Card 단독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83879" y="28346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KPI 5개만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83879" y="32918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최소 정보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79" y="37490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항상 최상위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83879" y="4206240"/>
            <a:ext cx="3200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보조 모니터용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48640" y="5212080"/>
            <a:ext cx="1106424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48640" y="53949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88"/>
                </a:solidFill>
                <a:latin typeface="Consolas"/>
              </a:defRPr>
            </a:pPr>
            <a:r>
              <a:t>다중 모니터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66928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차트 분리 가능 (QDockWidget Float)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79" y="53949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88"/>
                </a:solidFill>
                <a:latin typeface="Consolas"/>
              </a:defRPr>
            </a:pPr>
            <a:r>
              <a:t>야간 모드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97679" y="566928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더 어두운 배경 + 밝기 감소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046719" y="539496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88"/>
                </a:solidFill>
                <a:latin typeface="Consolas"/>
              </a:defRPr>
            </a:pPr>
            <a:r>
              <a:t>Dock 재배치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46719" y="5669280"/>
            <a:ext cx="34747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파워유저 커스터마이징 유지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AI ADVISOR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AI 어드바이저 통합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280160"/>
            <a:ext cx="210312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80160"/>
            <a:ext cx="2103120" cy="36576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920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699FF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002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0F0"/>
                </a:solidFill>
                <a:latin typeface="Consolas"/>
              </a:defRPr>
            </a:pPr>
            <a:r>
              <a:t>INGESTION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Snapshot</a:t>
            </a:r>
            <a:br/>
            <a:r>
              <a:t>Builder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7168" y="173736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04858"/>
                </a:solidFill>
                <a:latin typeface="Consolas"/>
              </a:defRPr>
            </a:pPr>
            <a:r>
              <a:t>▶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697479" y="1280160"/>
            <a:ext cx="210312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97479" y="1280160"/>
            <a:ext cx="2103120" cy="36576"/>
          </a:xfrm>
          <a:prstGeom prst="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19" y="1389888"/>
            <a:ext cx="1920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44CCCC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19" y="16002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0F0"/>
                </a:solidFill>
                <a:latin typeface="Consolas"/>
              </a:defRPr>
            </a:pPr>
            <a:r>
              <a:t>ANALYSIS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19" y="196596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PnL / MDD</a:t>
            </a:r>
            <a:br/>
            <a:r>
              <a:t>Entry / Exit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818887" y="173736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04858"/>
                </a:solidFill>
                <a:latin typeface="Consolas"/>
              </a:defRPr>
            </a:pPr>
            <a:r>
              <a:t>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0" y="1280160"/>
            <a:ext cx="210312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29200" y="1280160"/>
            <a:ext cx="2103120" cy="36576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20640" y="1389888"/>
            <a:ext cx="1920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16002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0F0"/>
                </a:solidFill>
                <a:latin typeface="Consolas"/>
              </a:defRPr>
            </a:pPr>
            <a:r>
              <a:t>RECOMMEND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196596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Param Tuning</a:t>
            </a:r>
            <a:br/>
            <a:r>
              <a:t>Drift Guard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173736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04858"/>
                </a:solidFill>
                <a:latin typeface="Consolas"/>
              </a:defRPr>
            </a:pPr>
            <a:r>
              <a:t>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0919" y="1280160"/>
            <a:ext cx="210312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FF8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360919" y="1280160"/>
            <a:ext cx="2103120" cy="36576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59" y="1389888"/>
            <a:ext cx="1920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FF8800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59" y="16002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0F0"/>
                </a:solidFill>
                <a:latin typeface="Consolas"/>
              </a:defRPr>
            </a:pPr>
            <a:r>
              <a:t>INTRADAY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52359" y="196596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Flash Drop</a:t>
            </a:r>
            <a:br/>
            <a:r>
              <a:t>VWAP / Vol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82327" y="1737360"/>
            <a:ext cx="1828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404858"/>
                </a:solidFill>
                <a:latin typeface="Consolas"/>
              </a:defRPr>
            </a:pPr>
            <a:r>
              <a:t>▶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1280160"/>
            <a:ext cx="2103120" cy="13716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60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692640" y="1280160"/>
            <a:ext cx="2103120" cy="36576"/>
          </a:xfrm>
          <a:prstGeom prst="rect">
            <a:avLst/>
          </a:prstGeom>
          <a:solidFill>
            <a:srgbClr val="60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784080" y="1389888"/>
            <a:ext cx="192024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06880"/>
                </a:solidFill>
                <a:latin typeface="Consolas"/>
              </a:defRPr>
            </a:pPr>
            <a:r>
              <a:t>Phase 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1600200"/>
            <a:ext cx="192024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0F0F0"/>
                </a:solidFill>
                <a:latin typeface="Consolas"/>
              </a:defRPr>
            </a:pPr>
            <a:r>
              <a:t>LLM (Future)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1965960"/>
            <a:ext cx="192024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자연어</a:t>
            </a:r>
            <a:br/>
            <a:r>
              <a:t>요약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292608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0F0F0"/>
                </a:solidFill>
                <a:latin typeface="Segoe UI"/>
              </a:defRPr>
            </a:pPr>
            <a:r>
              <a:t>GUI 통합 방법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383280"/>
            <a:ext cx="5486400" cy="150876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383280"/>
            <a:ext cx="45720" cy="1508760"/>
          </a:xfrm>
          <a:prstGeom prst="rect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1520" y="34747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44CCCC"/>
                </a:solidFill>
                <a:latin typeface="Consolas"/>
              </a:defRPr>
            </a:pPr>
            <a:r>
              <a:t>SLIDE-OUT PANEL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37033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우측 확장형 Advisor 전용 패널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3977640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평상시 숨겨져 있다가 클릭/A키로 활성화</a:t>
            </a:r>
            <a:br/>
            <a:r>
              <a:t>전체 Alert + Recommendation 목록 표시</a:t>
            </a:r>
            <a:br/>
            <a:r>
              <a:t>필터: 날짜, 우선순위, 카테고리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09359" y="3383280"/>
            <a:ext cx="5486400" cy="150876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309359" y="3383280"/>
            <a:ext cx="45720" cy="150876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92239" y="34747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8800"/>
                </a:solidFill>
                <a:latin typeface="Consolas"/>
              </a:defRPr>
            </a:pPr>
            <a:r>
              <a:t>ALERT 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39" y="370332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카드 스택 (Max 8, 우선순위 정렬)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39" y="3977640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Phase 2 결과물 상위 8건 표시</a:t>
            </a:r>
            <a:br/>
            <a:r>
              <a:t>긴급도 색상 코딩 (RED/ORANGE/YELLOW/GRAY)</a:t>
            </a:r>
            <a:br/>
            <a:r>
              <a:t>클릭 시 debug_hint 표시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48640" y="5074920"/>
            <a:ext cx="5486400" cy="150876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548640" y="5074920"/>
            <a:ext cx="45720" cy="1508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516636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FF88"/>
                </a:solidFill>
                <a:latin typeface="Consolas"/>
              </a:defRPr>
            </a:pPr>
            <a:r>
              <a:t>RECOMMENDATION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31520" y="539496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"제안" 배지 + 상세 펼침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669280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Phase 3 파라미터 추천 카드</a:t>
            </a:r>
            <a:br/>
            <a:r>
              <a:t>Confidence: LOW/MEDIUM 표시</a:t>
            </a:r>
            <a:br/>
            <a:r>
              <a:t>Drift Guard: 스팸 방지 필터링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09359" y="5074920"/>
            <a:ext cx="5486400" cy="150876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09359" y="5074920"/>
            <a:ext cx="45720" cy="150876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39" y="516636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3344"/>
                </a:solidFill>
                <a:latin typeface="Consolas"/>
              </a:defRPr>
            </a:pPr>
            <a:r>
              <a:t>INTRADAY TIMELINE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92239" y="5394960"/>
            <a:ext cx="512064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실시간 위험 타임라인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92239" y="5669280"/>
            <a:ext cx="512064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Segoe UI"/>
              </a:defRPr>
            </a:pPr>
            <a:r>
              <a:t>Phase 4 장중 이벤트 시간순 배치</a:t>
            </a:r>
            <a:br/>
            <a:r>
              <a:t>Flash Drop, Volume Spike, Near Trail</a:t>
            </a:r>
            <a:br/>
            <a:r>
              <a:t>Risk Score 종합 게이지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15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RISK VISUALIZATION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리스크 시각화 혁신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5486400" cy="22860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5486400" cy="4572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1828800" cy="201168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" y="1874520"/>
            <a:ext cx="1097280" cy="1097280"/>
          </a:xfrm>
          <a:prstGeom prst="ellipse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188720" y="2057400"/>
            <a:ext cx="731520" cy="731520"/>
          </a:xfrm>
          <a:prstGeom prst="ellipse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10972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D00"/>
                </a:solidFill>
                <a:latin typeface="Consolas"/>
              </a:defRPr>
            </a:pPr>
            <a:r>
              <a:t>-2.1%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514600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06880"/>
                </a:solidFill>
                <a:latin typeface="Consolas"/>
              </a:defRPr>
            </a:pPr>
            <a:r>
              <a:t>Daily DD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3344"/>
                </a:solidFill>
                <a:latin typeface="Consolas"/>
              </a:defRPr>
            </a:pPr>
            <a:r>
              <a:t>DD GUARD GAUGE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7373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게이지 차트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210312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일 -4% / 월 -7% 임계점 표시</a:t>
            </a:r>
            <a:br/>
            <a:r>
              <a:t>현재 DD 수준 실시간 반영</a:t>
            </a:r>
            <a:br/>
            <a:r>
              <a:t>임계 접근 시 애니메이션 경고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59" y="1280160"/>
            <a:ext cx="5486400" cy="22860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09359" y="1280160"/>
            <a:ext cx="5486400" cy="4572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19" y="1417320"/>
            <a:ext cx="1828800" cy="201168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812279" y="1783080"/>
            <a:ext cx="1005840" cy="1005840"/>
          </a:xfrm>
          <a:prstGeom prst="ellipse">
            <a:avLst/>
          </a:prstGeom>
          <a:solidFill>
            <a:srgbClr val="1E2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995159" y="1965960"/>
            <a:ext cx="640080" cy="640080"/>
          </a:xfrm>
          <a:prstGeom prst="ellipse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178039" y="2148840"/>
            <a:ext cx="274320" cy="274320"/>
          </a:xfrm>
          <a:prstGeom prst="ellipse">
            <a:avLst/>
          </a:prstGeom>
          <a:solidFill>
            <a:srgbClr val="330A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480938" y="1721370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047771" y="1956975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596297" y="2496046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781390" y="1794985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222385" y="1727060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980738" y="2292365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752382" y="1928002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7493369" y="2339422"/>
            <a:ext cx="73152" cy="73152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187384" y="2326812"/>
            <a:ext cx="73152" cy="73152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456670" y="2060371"/>
            <a:ext cx="73152" cy="73152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455019" y="2376589"/>
            <a:ext cx="73152" cy="73152"/>
          </a:xfrm>
          <a:prstGeom prst="ellipse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12479" y="1463040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D00"/>
                </a:solidFill>
                <a:latin typeface="Consolas"/>
              </a:defRPr>
            </a:pPr>
            <a:r>
              <a:t>TRAIL STOP RADAR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79" y="1737360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레이더 차트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9" y="2103120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20종목 원형 배치 (프로펠리오 레이더)</a:t>
            </a:r>
            <a:br/>
            <a:r>
              <a:t>중심 가까울수록 위험 (Gap %)</a:t>
            </a:r>
            <a:br/>
            <a:r>
              <a:t>빨간 영역 = Stop Loss 임박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" y="3840479"/>
            <a:ext cx="5486400" cy="22860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48640" y="3840479"/>
            <a:ext cx="5486400" cy="45720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85800" y="3977639"/>
            <a:ext cx="1828800" cy="201168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22960" y="4892039"/>
            <a:ext cx="164592" cy="7315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051560" y="5257799"/>
            <a:ext cx="164592" cy="36576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280160" y="5349239"/>
            <a:ext cx="164592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1508760" y="5166359"/>
            <a:ext cx="164592" cy="45720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737360" y="4709159"/>
            <a:ext cx="164592" cy="914400"/>
          </a:xfrm>
          <a:prstGeom prst="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965960" y="5074919"/>
            <a:ext cx="164592" cy="548640"/>
          </a:xfrm>
          <a:prstGeom prst="rect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194560" y="5349239"/>
            <a:ext cx="164592" cy="2743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77240" y="5669279"/>
            <a:ext cx="164592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06880"/>
                </a:solidFill>
                <a:latin typeface="Consolas"/>
              </a:defRPr>
            </a:pPr>
            <a:r>
              <a:t>09:00        15:30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651760" y="4023359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99FF"/>
                </a:solidFill>
                <a:latin typeface="Consolas"/>
              </a:defRPr>
            </a:pPr>
            <a:r>
              <a:t>RISK TIMELINE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651760" y="4297679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시간별 리스크 변화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651760" y="4663439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하루 중 리스크 레벨 변화 타임라인</a:t>
            </a:r>
            <a:br/>
            <a:r>
              <a:t>09:00~15:30 구간별 상태 표시</a:t>
            </a:r>
            <a:br/>
            <a:r>
              <a:t>SAFE_MODE 전환 시점 마커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309359" y="3840479"/>
            <a:ext cx="5486400" cy="22860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309359" y="3840479"/>
            <a:ext cx="5486400" cy="45720"/>
          </a:xfrm>
          <a:prstGeom prst="rect">
            <a:avLst/>
          </a:prstGeom>
          <a:solidFill>
            <a:srgbClr val="FF8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6446519" y="3977639"/>
            <a:ext cx="1828800" cy="2011680"/>
          </a:xfrm>
          <a:prstGeom prst="roundRect">
            <a:avLst/>
          </a:prstGeom>
          <a:solidFill>
            <a:srgbClr val="161A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6537959" y="40690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6949439" y="40690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7360919" y="40690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7772399" y="40690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6537959" y="45262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6949439" y="45262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7360919" y="45262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7772399" y="45262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6537959" y="49834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6949439" y="49834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7360919" y="4983479"/>
            <a:ext cx="347472" cy="36576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7772399" y="4983479"/>
            <a:ext cx="347472" cy="36576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6537959" y="54406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6949439" y="5440679"/>
            <a:ext cx="347472" cy="365760"/>
          </a:xfrm>
          <a:prstGeom prst="round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7360919" y="5440679"/>
            <a:ext cx="347472" cy="36576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7772399" y="5440679"/>
            <a:ext cx="347472" cy="365760"/>
          </a:xfrm>
          <a:prstGeom prst="roundRect">
            <a:avLst/>
          </a:prstGeom>
          <a:solidFill>
            <a:srgbClr val="FF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412479" y="4023359"/>
            <a:ext cx="3200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8800"/>
                </a:solidFill>
                <a:latin typeface="Consolas"/>
              </a:defRPr>
            </a:pPr>
            <a:r>
              <a:t>CLUSTER DD ALERT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412479" y="4297679"/>
            <a:ext cx="3200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0F0F0"/>
                </a:solidFill>
                <a:latin typeface="Segoe UI"/>
              </a:defRPr>
            </a:pPr>
            <a:r>
              <a:t>클러스터 DD 감지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412479" y="4663439"/>
            <a:ext cx="32004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3+ 종목 동시 -3% → 빨간 오버레이</a:t>
            </a:r>
            <a:br/>
            <a:r>
              <a:t>SAFE_MODE 전환 전체 화면 톤 변경</a:t>
            </a:r>
            <a:br/>
            <a:r>
              <a:t>정상=블루틴트, 위험=레드틴트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82880"/>
            <a:ext cx="91440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137160"/>
            <a:ext cx="73152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0F0F0"/>
                </a:solidFill>
                <a:latin typeface="Segoe UI"/>
              </a:defRPr>
            </a:pPr>
            <a:r>
              <a:t>TECHNICAL FEASIBILITY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7315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Segoe UI"/>
              </a:defRPr>
            </a:pPr>
            <a:r>
              <a:t>기술 구현 가능성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3474720" cy="29260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280160"/>
            <a:ext cx="3474720" cy="45720"/>
          </a:xfrm>
          <a:prstGeom prst="rect">
            <a:avLst/>
          </a:prstGeom>
          <a:solidFill>
            <a:srgbClr val="6068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1732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06880"/>
                </a:solidFill>
                <a:latin typeface="Consolas"/>
              </a:defRPr>
            </a:pPr>
            <a:r>
              <a:t>CURRENT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169164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0F0F0"/>
                </a:solidFill>
                <a:latin typeface="Segoe UI"/>
              </a:defRPr>
            </a:pPr>
            <a:r>
              <a:t>PyQt5 + pyqtgraph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QDockWidget 기반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pyqtgraph 차트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8346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QSS 스타일링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2004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Python 3.9 (32-bit)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794760"/>
            <a:ext cx="3108960" cy="27432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6068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813048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06880"/>
                </a:solidFill>
                <a:latin typeface="Consolas"/>
              </a:defRPr>
            </a:pPr>
            <a:r>
              <a:t>현재 운영 중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79" y="1280160"/>
            <a:ext cx="3474720" cy="29260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79" y="1280160"/>
            <a:ext cx="3474720" cy="4572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59" y="141732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FF88"/>
                </a:solidFill>
                <a:latin typeface="Consolas"/>
              </a:defRPr>
            </a:pPr>
            <a:r>
              <a:t>PROPOSED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59" y="169164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0F0F0"/>
                </a:solidFill>
                <a:latin typeface="Segoe UI"/>
              </a:defRPr>
            </a:pPr>
            <a:r>
              <a:t>PyQt6 + pyqtgraph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59" y="21031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QDockWidget 유지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59" y="24688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pyqtgraph + Custom Widget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59" y="28346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QSS 고급 테마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32004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Python 3.13 (64-bit)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3794760"/>
            <a:ext cx="3108960" cy="27432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0559" y="3813048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0FF88"/>
                </a:solidFill>
                <a:latin typeface="Consolas"/>
              </a:defRPr>
            </a:pPr>
            <a:r>
              <a:t>추천 — 최소 변경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280160"/>
            <a:ext cx="3474720" cy="292608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048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46719" y="1280160"/>
            <a:ext cx="3474720" cy="45720"/>
          </a:xfrm>
          <a:prstGeom prst="rect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29599" y="1417320"/>
            <a:ext cx="310896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6699FF"/>
                </a:solidFill>
                <a:latin typeface="Consolas"/>
              </a:defRPr>
            </a:pPr>
            <a:r>
              <a:t>ALTERNATIVE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599" y="1691640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0F0F0"/>
                </a:solidFill>
                <a:latin typeface="Segoe UI"/>
              </a:defRPr>
            </a:pPr>
            <a:r>
              <a:t>Electron + React + D3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599" y="210312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Web 기반 확장성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599" y="246888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D3.js 고급 차트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599" y="283464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CSS 애니메이션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599" y="3200400"/>
            <a:ext cx="31089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06880"/>
                </a:solidFill>
                <a:latin typeface="Segoe UI"/>
              </a:defRPr>
            </a:pPr>
            <a:r>
              <a:t>▸  리모트 접속 가능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599" y="3794760"/>
            <a:ext cx="3108960" cy="27432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599" y="3813048"/>
            <a:ext cx="310896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6699FF"/>
                </a:solidFill>
                <a:latin typeface="Consolas"/>
              </a:defRPr>
            </a:pPr>
            <a:r>
              <a:t>장기 비전 (Gen5)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4389120"/>
            <a:ext cx="11064240" cy="1270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457200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PERFORMANCE TARGETS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9377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60fps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539496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차트 렌더링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37560" y="49377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&lt;100ms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37560" y="539496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데이터 갱신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26479" y="49377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&lt;50MB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26479" y="539496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RAM 사용량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15399" y="4937760"/>
            <a:ext cx="25603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00FF88"/>
                </a:solidFill>
                <a:latin typeface="Consolas"/>
              </a:defRPr>
            </a:pPr>
            <a:r>
              <a:t>3s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915399" y="5394960"/>
            <a:ext cx="256032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606880"/>
                </a:solidFill>
                <a:latin typeface="Segoe UI"/>
              </a:defRPr>
            </a:pPr>
            <a:r>
              <a:t>폴링 주기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5760720"/>
            <a:ext cx="4572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0F0F0"/>
                </a:solidFill>
                <a:latin typeface="Segoe UI"/>
              </a:defRPr>
            </a:pPr>
            <a:r>
              <a:t>IMPLEMENTATION TIMELINE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48640" y="6035040"/>
            <a:ext cx="347472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85800" y="606247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0FF88"/>
                </a:solidFill>
                <a:latin typeface="Consolas"/>
              </a:defRPr>
            </a:pPr>
            <a:r>
              <a:t>Phase 1  4주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920240" y="6062472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핵심 레이아웃 + Decision Hub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297679" y="6035040"/>
            <a:ext cx="347472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434839" y="606247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6699FF"/>
                </a:solidFill>
                <a:latin typeface="Consolas"/>
              </a:defRPr>
            </a:pPr>
            <a:r>
              <a:t>Phase 2  4주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79" y="6062472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차트 시스템 + Alert Stream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046719" y="6035040"/>
            <a:ext cx="3474720" cy="457200"/>
          </a:xfrm>
          <a:prstGeom prst="roundRect">
            <a:avLst/>
          </a:prstGeom>
          <a:solidFill>
            <a:srgbClr val="0E1118"/>
          </a:solidFill>
          <a:ln w="12700">
            <a:solidFill>
              <a:srgbClr val="4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183879" y="6062472"/>
            <a:ext cx="137160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44CCCC"/>
                </a:solidFill>
                <a:latin typeface="Consolas"/>
              </a:defRPr>
            </a:pPr>
            <a:r>
              <a:t>Phase 3  2주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418319" y="6062472"/>
            <a:ext cx="20116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F0F0F0"/>
                </a:solidFill>
                <a:latin typeface="Segoe UI"/>
              </a:defRPr>
            </a:pPr>
            <a:r>
              <a:t>폴리싱 + 사용자 테스트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081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91440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F0F0F0"/>
                </a:solidFill>
                <a:latin typeface="Segoe UI Light"/>
              </a:defRPr>
            </a:pPr>
            <a: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91440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00FF88"/>
                </a:solidFill>
                <a:latin typeface="Segoe UI"/>
              </a:defRPr>
            </a:pPr>
            <a:r>
              <a:t>다음 단계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12848"/>
            <a:ext cx="182880" cy="182880"/>
          </a:xfrm>
          <a:prstGeom prst="ellipse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212848"/>
            <a:ext cx="182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0810"/>
                </a:solidFill>
                <a:latin typeface="Consolas"/>
              </a:defRPr>
            </a:pPr>
            <a: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987552" y="2423160"/>
            <a:ext cx="25400" cy="64008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14884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88"/>
                </a:solidFill>
                <a:latin typeface="Consolas"/>
              </a:defRPr>
            </a:pPr>
            <a: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214884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0F0F0"/>
                </a:solidFill>
                <a:latin typeface="Segoe UI"/>
              </a:defRPr>
            </a:pPr>
            <a:r>
              <a:t>와이어프레임 + Figma 프로토타입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0" y="2148840"/>
            <a:ext cx="109728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00F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217627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FF88"/>
                </a:solidFill>
                <a:latin typeface="Consolas"/>
              </a:defRPr>
            </a:pPr>
            <a:r>
              <a:t>2주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72967"/>
            <a:ext cx="182880" cy="182880"/>
          </a:xfrm>
          <a:prstGeom prst="ellipse">
            <a:avLst/>
          </a:prstGeom>
          <a:solidFill>
            <a:srgbClr val="6699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172967"/>
            <a:ext cx="182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0810"/>
                </a:solidFill>
                <a:latin typeface="Consolas"/>
              </a:defRPr>
            </a:pPr>
            <a:r>
              <a:t>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" y="3383279"/>
            <a:ext cx="25400" cy="64008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3108959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6699FF"/>
                </a:solidFill>
                <a:latin typeface="Consolas"/>
              </a:defRPr>
            </a:pPr>
            <a: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3108959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0F0F0"/>
                </a:solidFill>
                <a:latin typeface="Segoe UI"/>
              </a:defRPr>
            </a:pPr>
            <a:r>
              <a:t>핵심 컴포넌트 구현 (Decision Hub + Hero Chart)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3108959"/>
            <a:ext cx="109728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669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01200" y="3136391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6699FF"/>
                </a:solidFill>
                <a:latin typeface="Consolas"/>
              </a:defRPr>
            </a:pPr>
            <a:r>
              <a:t>4주</a:t>
            </a:r>
          </a:p>
        </p:txBody>
      </p:sp>
      <p:sp>
        <p:nvSpPr>
          <p:cNvPr id="19" name="Oval 18"/>
          <p:cNvSpPr/>
          <p:nvPr/>
        </p:nvSpPr>
        <p:spPr>
          <a:xfrm>
            <a:off x="914400" y="4133088"/>
            <a:ext cx="182880" cy="182880"/>
          </a:xfrm>
          <a:prstGeom prst="ellipse">
            <a:avLst/>
          </a:prstGeom>
          <a:solidFill>
            <a:srgbClr val="44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133088"/>
            <a:ext cx="182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0810"/>
                </a:solidFill>
                <a:latin typeface="Consolas"/>
              </a:defRPr>
            </a:pPr>
            <a:r>
              <a:t>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87552" y="4343400"/>
            <a:ext cx="25400" cy="640080"/>
          </a:xfrm>
          <a:prstGeom prst="rect">
            <a:avLst/>
          </a:prstGeom>
          <a:solidFill>
            <a:srgbClr val="4048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71600" y="406908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44CCCC"/>
                </a:solidFill>
                <a:latin typeface="Consolas"/>
              </a:defRPr>
            </a:pPr>
            <a:r>
              <a:t>PHASE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406908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0F0F0"/>
                </a:solidFill>
                <a:latin typeface="Segoe UI"/>
              </a:defRPr>
            </a:pPr>
            <a:r>
              <a:t>전체 통합 + 사용자 테스트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601200" y="4069080"/>
            <a:ext cx="109728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44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01200" y="409651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44CCCC"/>
                </a:solidFill>
                <a:latin typeface="Consolas"/>
              </a:defRPr>
            </a:pPr>
            <a:r>
              <a:t>3주</a:t>
            </a:r>
          </a:p>
        </p:txBody>
      </p:sp>
      <p:sp>
        <p:nvSpPr>
          <p:cNvPr id="26" name="Oval 25"/>
          <p:cNvSpPr/>
          <p:nvPr/>
        </p:nvSpPr>
        <p:spPr>
          <a:xfrm>
            <a:off x="914400" y="5093208"/>
            <a:ext cx="182880" cy="182880"/>
          </a:xfrm>
          <a:prstGeom prst="ellipse">
            <a:avLst/>
          </a:prstGeom>
          <a:solidFill>
            <a:srgbClr val="FFD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5093208"/>
            <a:ext cx="182880" cy="18288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60810"/>
                </a:solidFill>
                <a:latin typeface="Consolas"/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029200"/>
            <a:ext cx="13716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D00"/>
                </a:solidFill>
                <a:latin typeface="Consolas"/>
              </a:defRPr>
            </a:pPr>
            <a:r>
              <a:t>PHASE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0" y="5029200"/>
            <a:ext cx="64008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F0F0F0"/>
                </a:solidFill>
                <a:latin typeface="Segoe UI"/>
              </a:defRPr>
            </a:pPr>
            <a:r>
              <a:t>피드백 반영 + 정식 릴리스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01200" y="5029200"/>
            <a:ext cx="1097280" cy="320040"/>
          </a:xfrm>
          <a:prstGeom prst="roundRect">
            <a:avLst/>
          </a:prstGeom>
          <a:solidFill>
            <a:srgbClr val="161A24"/>
          </a:solidFill>
          <a:ln w="12700">
            <a:solidFill>
              <a:srgbClr val="FFDD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5056632"/>
            <a:ext cx="109728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D00"/>
                </a:solidFill>
                <a:latin typeface="Consolas"/>
              </a:defRPr>
            </a:pPr>
            <a:r>
              <a:t>1주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5486400"/>
            <a:ext cx="11064240" cy="12700"/>
          </a:xfrm>
          <a:prstGeom prst="rect">
            <a:avLst/>
          </a:prstGeom>
          <a:solidFill>
            <a:srgbClr val="00FF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5669280"/>
            <a:ext cx="4572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0FF88"/>
                </a:solidFill>
                <a:latin typeface="Consolas"/>
              </a:defRPr>
            </a:pPr>
            <a:r>
              <a:t>TOTAL:  10주  (2.5개월)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126480"/>
            <a:ext cx="12191695" cy="731520"/>
          </a:xfrm>
          <a:prstGeom prst="rect">
            <a:avLst/>
          </a:prstGeom>
          <a:solidFill>
            <a:srgbClr val="0E11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" y="6263640"/>
            <a:ext cx="2743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FF88"/>
                </a:solidFill>
                <a:latin typeface="Consolas"/>
              </a:defRPr>
            </a:pPr>
            <a:r>
              <a:t>DESIGN STUDIO 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6263640"/>
            <a:ext cx="54864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606880"/>
                </a:solidFill>
                <a:latin typeface="Consolas"/>
              </a:defRPr>
            </a:pPr>
            <a:r>
              <a:t>·  Q-TRON QUANT  ·  2026.04  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6263640"/>
            <a:ext cx="22860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404858"/>
                </a:solidFill>
                <a:latin typeface="Consolas"/>
              </a:defRPr>
            </a:pPr>
            <a:r>
              <a:t>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